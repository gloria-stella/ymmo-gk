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5143500" cy="9144000"/>
  <p:embeddedFontLst>
    <p:embeddedFont>
      <p:font typeface="Urbanist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CF4556E-8122-4D61-A7E3-15574F46C08D}">
  <a:tblStyle styleId="{ECF4556E-8122-4D61-A7E3-15574F46C08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Urbanist-regular.fntdata"/><Relationship Id="rId25" Type="http://schemas.openxmlformats.org/officeDocument/2006/relationships/slide" Target="slides/slide20.xml"/><Relationship Id="rId28" Type="http://schemas.openxmlformats.org/officeDocument/2006/relationships/font" Target="fonts/Urbanist-italic.fntdata"/><Relationship Id="rId27" Type="http://schemas.openxmlformats.org/officeDocument/2006/relationships/font" Target="fonts/Urbanis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Urbanis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eaf1d04410_0_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g3eaf1d04410_0_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g3eaf1d04410_0_6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" name="Google Shape;36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6" name="Google Shape;38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3" name="Google Shape;42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eaf1d04410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9" name="Google Shape;449;g3eaf1d04410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g3eaf1d04410_0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1" name="Google Shape;49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6400800" y="-1828800"/>
            <a:ext cx="5486400" cy="5486400"/>
          </a:xfrm>
          <a:prstGeom prst="ellipse">
            <a:avLst/>
          </a:prstGeom>
          <a:solidFill>
            <a:srgbClr val="0D2B4E">
              <a:alpha val="70196"/>
            </a:srgbClr>
          </a:solidFill>
          <a:ln cap="flat" cmpd="sng" w="12700">
            <a:solidFill>
              <a:srgbClr val="0D2B4E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7315200" y="-914400"/>
            <a:ext cx="3657600" cy="3657600"/>
          </a:xfrm>
          <a:prstGeom prst="ellipse">
            <a:avLst/>
          </a:prstGeom>
          <a:solidFill>
            <a:srgbClr val="0A3A6E">
              <a:alpha val="60000"/>
            </a:srgbClr>
          </a:solidFill>
          <a:ln cap="flat" cmpd="sng" w="12700">
            <a:solidFill>
              <a:srgbClr val="0A3A6E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457200" y="626750"/>
            <a:ext cx="7148400" cy="248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chemeClr val="lt1"/>
                </a:solidFill>
              </a:rPr>
              <a:t>PROJET YMMO </a:t>
            </a:r>
            <a:endParaRPr b="1" sz="60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chemeClr val="lt1"/>
                </a:solidFill>
              </a:rPr>
              <a:t>INFRASTRUCTURE &amp; DÉVELOPPEMENT</a:t>
            </a:r>
            <a:endParaRPr sz="2100">
              <a:solidFill>
                <a:srgbClr val="64748B"/>
              </a:solidFill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t/>
            </a:r>
            <a:endParaRPr b="1" sz="4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1828790" y="228605"/>
            <a:ext cx="36576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4800"/>
              <a:buFont typeface="Calibri"/>
              <a:buNone/>
            </a:pPr>
            <a:r>
              <a:t/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914400" y="2472350"/>
            <a:ext cx="6400800" cy="636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KLARA PERIC – NJUNDOM STELLA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600"/>
              <a:buFont typeface="Calibri"/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B2 INFO – B2 CYBER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457200" y="4983480"/>
            <a:ext cx="2743200" cy="27432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 txBox="1"/>
          <p:nvPr/>
        </p:nvSpPr>
        <p:spPr>
          <a:xfrm>
            <a:off x="457200" y="4185225"/>
            <a:ext cx="2525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</a:rPr>
              <a:t>PARTIE DEV </a:t>
            </a:r>
            <a:endParaRPr sz="2000">
              <a:solidFill>
                <a:schemeClr val="lt1"/>
              </a:solidFill>
            </a:endParaRPr>
          </a:p>
        </p:txBody>
      </p:sp>
      <p:sp>
        <p:nvSpPr>
          <p:cNvPr id="23" name="Google Shape;23;p3"/>
          <p:cNvSpPr txBox="1"/>
          <p:nvPr/>
        </p:nvSpPr>
        <p:spPr>
          <a:xfrm>
            <a:off x="6176825" y="4185225"/>
            <a:ext cx="274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</a:rPr>
              <a:t>PARTIE INFRA</a:t>
            </a:r>
            <a:endParaRPr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5943600" y="-1828800"/>
            <a:ext cx="5486400" cy="5486400"/>
          </a:xfrm>
          <a:prstGeom prst="ellipse">
            <a:avLst/>
          </a:prstGeom>
          <a:solidFill>
            <a:srgbClr val="0D1F3A">
              <a:alpha val="70200"/>
            </a:srgbClr>
          </a:solidFill>
          <a:ln cap="flat" cmpd="sng" w="12700">
            <a:solidFill>
              <a:srgbClr val="0D1F3A">
                <a:alpha val="7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0A2A50">
              <a:alpha val="60000"/>
            </a:srgbClr>
          </a:solidFill>
          <a:ln cap="flat" cmpd="sng" w="12700">
            <a:solidFill>
              <a:srgbClr val="0A2A50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0D1F3A">
              <a:alpha val="50199"/>
            </a:srgbClr>
          </a:solidFill>
          <a:ln cap="flat" cmpd="sng" w="12700">
            <a:solidFill>
              <a:srgbClr val="0D1F3A">
                <a:alpha val="501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1121075" y="476250"/>
            <a:ext cx="7581300" cy="14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YMMO : Développement &amp; Architecture Applicative  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t/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457200" y="2641021"/>
            <a:ext cx="6400800" cy="55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lt1"/>
                </a:solidFill>
              </a:rPr>
              <a:t>Applications, API, CI/CD &amp; Qualité du Code</a:t>
            </a:r>
            <a:endParaRPr b="1" sz="110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rgbClr val="8B949E"/>
              </a:buClr>
              <a:buSzPts val="1500"/>
              <a:buFont typeface="Calibri"/>
              <a:buNone/>
            </a:pPr>
            <a:r>
              <a:t/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57200" y="3657600"/>
            <a:ext cx="54900" cy="45720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640080" y="365760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274320" y="4480560"/>
            <a:ext cx="1326000" cy="411600"/>
          </a:xfrm>
          <a:prstGeom prst="roundRect">
            <a:avLst>
              <a:gd fmla="val 17778" name="adj"/>
            </a:avLst>
          </a:prstGeom>
          <a:solidFill>
            <a:srgbClr val="0D2B4E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274320" y="4480560"/>
            <a:ext cx="1326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Architecture Applicative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1737360" y="4480560"/>
            <a:ext cx="1326000" cy="411600"/>
          </a:xfrm>
          <a:prstGeom prst="roundRect">
            <a:avLst>
              <a:gd fmla="val 17778" name="adj"/>
            </a:avLst>
          </a:prstGeom>
          <a:solidFill>
            <a:srgbClr val="0D2B4E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1737360" y="4480560"/>
            <a:ext cx="1326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Backend &amp; API REST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3200400" y="4480560"/>
            <a:ext cx="1326000" cy="411600"/>
          </a:xfrm>
          <a:prstGeom prst="roundRect">
            <a:avLst>
              <a:gd fmla="val 17778" name="adj"/>
            </a:avLst>
          </a:prstGeom>
          <a:solidFill>
            <a:srgbClr val="0D2B4E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3200400" y="4480560"/>
            <a:ext cx="1326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950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Base de Données &amp; ORM</a:t>
            </a:r>
            <a:endParaRPr b="1" sz="950">
              <a:solidFill>
                <a:srgbClr val="3B82F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50"/>
              <a:buFont typeface="Calibri"/>
              <a:buNone/>
            </a:pPr>
            <a:r>
              <a:t/>
            </a:r>
            <a:endParaRPr b="1" sz="950">
              <a:solidFill>
                <a:srgbClr val="3B82F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663440" y="4480560"/>
            <a:ext cx="1326000" cy="411600"/>
          </a:xfrm>
          <a:prstGeom prst="roundRect">
            <a:avLst>
              <a:gd fmla="val 17778" name="adj"/>
            </a:avLst>
          </a:prstGeom>
          <a:solidFill>
            <a:srgbClr val="0D2B4E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4663440" y="4480560"/>
            <a:ext cx="1326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CI/CD Automatisation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6126480" y="4480560"/>
            <a:ext cx="1326000" cy="411600"/>
          </a:xfrm>
          <a:prstGeom prst="roundRect">
            <a:avLst>
              <a:gd fmla="val 17778" name="adj"/>
            </a:avLst>
          </a:prstGeom>
          <a:solidFill>
            <a:srgbClr val="0D2B4E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6126480" y="4480560"/>
            <a:ext cx="1326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Tests &amp; Qualité </a:t>
            </a:r>
            <a:r>
              <a:rPr b="1" i="0" lang="en-US" sz="95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Firewall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7589520" y="4480560"/>
            <a:ext cx="1326000" cy="411600"/>
          </a:xfrm>
          <a:prstGeom prst="roundRect">
            <a:avLst>
              <a:gd fmla="val 17778" name="adj"/>
            </a:avLst>
          </a:prstGeom>
          <a:solidFill>
            <a:srgbClr val="0D2B4E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7589520" y="4480560"/>
            <a:ext cx="1326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Sécurité Applicative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365760" y="4983480"/>
            <a:ext cx="8412600" cy="27300"/>
          </a:xfrm>
          <a:prstGeom prst="rect">
            <a:avLst/>
          </a:prstGeom>
          <a:solidFill>
            <a:srgbClr val="1C2130"/>
          </a:solidFill>
          <a:ln cap="flat" cmpd="sng" w="12700">
            <a:solidFill>
              <a:srgbClr val="1C21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"/>
          <p:cNvSpPr/>
          <p:nvPr/>
        </p:nvSpPr>
        <p:spPr>
          <a:xfrm>
            <a:off x="365760" y="320040"/>
            <a:ext cx="54900" cy="59430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548640" y="27432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OBJECTIFS &amp; ENJEUX TECHNIQUES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365760" y="4983480"/>
            <a:ext cx="8412600" cy="27300"/>
          </a:xfrm>
          <a:prstGeom prst="rect">
            <a:avLst/>
          </a:prstGeom>
          <a:solidFill>
            <a:srgbClr val="1C2130"/>
          </a:solidFill>
          <a:ln cap="flat" cmpd="sng" w="12700">
            <a:solidFill>
              <a:srgbClr val="1C21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548640" y="1417320"/>
            <a:ext cx="3474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195100" y="1828800"/>
            <a:ext cx="2731800" cy="28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50">
                <a:solidFill>
                  <a:srgbClr val="0000FF"/>
                </a:solidFill>
              </a:rPr>
              <a:t>Cible Metier</a:t>
            </a:r>
            <a:endParaRPr b="1" sz="1650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50">
                <a:solidFill>
                  <a:schemeClr val="dk1"/>
                </a:solidFill>
              </a:rPr>
              <a:t>Concevoir une </a:t>
            </a:r>
            <a:r>
              <a:rPr lang="en-US" sz="1450">
                <a:solidFill>
                  <a:schemeClr val="dk1"/>
                </a:solidFill>
              </a:rPr>
              <a:t>plateforme</a:t>
            </a:r>
            <a:r>
              <a:rPr lang="en-US" sz="1450">
                <a:solidFill>
                  <a:schemeClr val="dk1"/>
                </a:solidFill>
              </a:rPr>
              <a:t> d’intermédiation immobilière fluide permettant aux agents de piloter leur catalogue et aux clients de soumettre des offres </a:t>
            </a:r>
            <a:r>
              <a:rPr lang="en-US" sz="1450">
                <a:solidFill>
                  <a:schemeClr val="dk1"/>
                </a:solidFill>
              </a:rPr>
              <a:t>instantanées</a:t>
            </a:r>
            <a:endParaRPr sz="145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Clr>
                <a:srgbClr val="8B949E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5120640" y="1417320"/>
            <a:ext cx="3474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3290450" y="1828800"/>
            <a:ext cx="2563200" cy="30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300"/>
              <a:buFont typeface="Calibri"/>
              <a:buNone/>
            </a:pPr>
            <a:r>
              <a:rPr b="1" lang="en-US" sz="16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Défi Ingénierie</a:t>
            </a:r>
            <a:endParaRPr b="1" sz="16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300"/>
              <a:buFont typeface="Calibri"/>
              <a:buNone/>
            </a:pPr>
            <a:r>
              <a:t/>
            </a:r>
            <a:endParaRPr b="1" sz="16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</a:t>
            </a: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 d'une structure de fichiers brute (CSV) à une persistance relationnelle (MySQL) tout en garantissant l'intégrité des calculs financiers (prix au m²).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61" name="Google Shape;6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17950" y="2559843"/>
            <a:ext cx="3555950" cy="24812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2" name="Google Shape;6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42300" y="1828800"/>
            <a:ext cx="2932150" cy="24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5"/>
          <p:cNvSpPr txBox="1"/>
          <p:nvPr/>
        </p:nvSpPr>
        <p:spPr>
          <a:xfrm>
            <a:off x="6042300" y="1828925"/>
            <a:ext cx="2736000" cy="20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50">
                <a:solidFill>
                  <a:srgbClr val="0000FF"/>
                </a:solidFill>
                <a:latin typeface="Urbanist"/>
                <a:ea typeface="Urbanist"/>
                <a:cs typeface="Urbanist"/>
                <a:sym typeface="Urbanist"/>
              </a:rPr>
              <a:t>Gestion AD &amp; RBAC</a:t>
            </a:r>
            <a:endParaRPr b="1" sz="1550">
              <a:solidFill>
                <a:srgbClr val="0000FF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50">
              <a:solidFill>
                <a:srgbClr val="0000FF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25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Contrôle total des accès : GPO pour le réseau et décorateurs Python pour l'application.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1" sz="155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"/>
          <p:cNvSpPr/>
          <p:nvPr/>
        </p:nvSpPr>
        <p:spPr>
          <a:xfrm>
            <a:off x="4572000" y="457200"/>
            <a:ext cx="18288" cy="4572000"/>
          </a:xfrm>
          <a:prstGeom prst="rect">
            <a:avLst/>
          </a:prstGeom>
          <a:solidFill>
            <a:srgbClr val="1A3A1A">
              <a:alpha val="50196"/>
            </a:srgbClr>
          </a:solidFill>
          <a:ln cap="flat" cmpd="sng" w="12700">
            <a:solidFill>
              <a:srgbClr val="1A3A1A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6"/>
          <p:cNvSpPr/>
          <p:nvPr/>
        </p:nvSpPr>
        <p:spPr>
          <a:xfrm>
            <a:off x="5120640" y="457200"/>
            <a:ext cx="18288" cy="4572000"/>
          </a:xfrm>
          <a:prstGeom prst="rect">
            <a:avLst/>
          </a:prstGeom>
          <a:solidFill>
            <a:srgbClr val="1A3A1A">
              <a:alpha val="50196"/>
            </a:srgbClr>
          </a:solidFill>
          <a:ln cap="flat" cmpd="sng" w="12700">
            <a:solidFill>
              <a:srgbClr val="1A3A1A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6"/>
          <p:cNvSpPr/>
          <p:nvPr/>
        </p:nvSpPr>
        <p:spPr>
          <a:xfrm>
            <a:off x="5669280" y="457200"/>
            <a:ext cx="18288" cy="4572000"/>
          </a:xfrm>
          <a:prstGeom prst="rect">
            <a:avLst/>
          </a:prstGeom>
          <a:solidFill>
            <a:srgbClr val="1A3A1A">
              <a:alpha val="50196"/>
            </a:srgbClr>
          </a:solidFill>
          <a:ln cap="flat" cmpd="sng" w="12700">
            <a:solidFill>
              <a:srgbClr val="1A3A1A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6"/>
          <p:cNvSpPr/>
          <p:nvPr/>
        </p:nvSpPr>
        <p:spPr>
          <a:xfrm>
            <a:off x="6217920" y="457200"/>
            <a:ext cx="18288" cy="4572000"/>
          </a:xfrm>
          <a:prstGeom prst="rect">
            <a:avLst/>
          </a:prstGeom>
          <a:solidFill>
            <a:srgbClr val="1A3A1A">
              <a:alpha val="50196"/>
            </a:srgbClr>
          </a:solidFill>
          <a:ln cap="flat" cmpd="sng" w="12700">
            <a:solidFill>
              <a:srgbClr val="1A3A1A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6"/>
          <p:cNvSpPr/>
          <p:nvPr/>
        </p:nvSpPr>
        <p:spPr>
          <a:xfrm>
            <a:off x="6766560" y="457200"/>
            <a:ext cx="18288" cy="4572000"/>
          </a:xfrm>
          <a:prstGeom prst="rect">
            <a:avLst/>
          </a:prstGeom>
          <a:solidFill>
            <a:srgbClr val="1A3A1A">
              <a:alpha val="50196"/>
            </a:srgbClr>
          </a:solidFill>
          <a:ln cap="flat" cmpd="sng" w="12700">
            <a:solidFill>
              <a:srgbClr val="1A3A1A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6"/>
          <p:cNvSpPr/>
          <p:nvPr/>
        </p:nvSpPr>
        <p:spPr>
          <a:xfrm>
            <a:off x="7315200" y="457200"/>
            <a:ext cx="18288" cy="4572000"/>
          </a:xfrm>
          <a:prstGeom prst="rect">
            <a:avLst/>
          </a:prstGeom>
          <a:solidFill>
            <a:srgbClr val="1A3A1A">
              <a:alpha val="50196"/>
            </a:srgbClr>
          </a:solidFill>
          <a:ln cap="flat" cmpd="sng" w="12700">
            <a:solidFill>
              <a:srgbClr val="1A3A1A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6"/>
          <p:cNvSpPr/>
          <p:nvPr/>
        </p:nvSpPr>
        <p:spPr>
          <a:xfrm>
            <a:off x="7863840" y="457200"/>
            <a:ext cx="18288" cy="4572000"/>
          </a:xfrm>
          <a:prstGeom prst="rect">
            <a:avLst/>
          </a:prstGeom>
          <a:solidFill>
            <a:srgbClr val="1A3A1A">
              <a:alpha val="50196"/>
            </a:srgbClr>
          </a:solidFill>
          <a:ln cap="flat" cmpd="sng" w="12700">
            <a:solidFill>
              <a:srgbClr val="1A3A1A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6"/>
          <p:cNvSpPr/>
          <p:nvPr/>
        </p:nvSpPr>
        <p:spPr>
          <a:xfrm>
            <a:off x="8412480" y="457200"/>
            <a:ext cx="18288" cy="4572000"/>
          </a:xfrm>
          <a:prstGeom prst="rect">
            <a:avLst/>
          </a:prstGeom>
          <a:solidFill>
            <a:srgbClr val="1A3A1A">
              <a:alpha val="50196"/>
            </a:srgbClr>
          </a:solidFill>
          <a:ln cap="flat" cmpd="sng" w="12700">
            <a:solidFill>
              <a:srgbClr val="1A3A1A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6"/>
          <p:cNvSpPr/>
          <p:nvPr/>
        </p:nvSpPr>
        <p:spPr>
          <a:xfrm>
            <a:off x="365760" y="320040"/>
            <a:ext cx="54864" cy="59436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6"/>
          <p:cNvSpPr/>
          <p:nvPr/>
        </p:nvSpPr>
        <p:spPr>
          <a:xfrm>
            <a:off x="548640" y="27432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MVC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365760" y="4983480"/>
            <a:ext cx="8412480" cy="27432"/>
          </a:xfrm>
          <a:prstGeom prst="rect">
            <a:avLst/>
          </a:prstGeom>
          <a:solidFill>
            <a:srgbClr val="1C2130"/>
          </a:solidFill>
          <a:ln cap="flat" cmpd="sng" w="12700">
            <a:solidFill>
              <a:srgbClr val="1C21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6"/>
          <p:cNvSpPr/>
          <p:nvPr/>
        </p:nvSpPr>
        <p:spPr>
          <a:xfrm>
            <a:off x="457200" y="1280160"/>
            <a:ext cx="3840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&lt;/&gt; Backend : </a:t>
            </a:r>
            <a:r>
              <a:rPr b="0" i="0" lang="en-US" sz="1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Python &amp; Flask pour une logique métier robuste et modulaire</a:t>
            </a:r>
            <a:endParaRPr b="0" i="0" sz="14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457200" y="2103120"/>
            <a:ext cx="3840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🗄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Modèles : 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SQLAlchemy pour une abstraction SQL fluide et sécurisée.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457200" y="2926080"/>
            <a:ext cx="3840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🖥 </a:t>
            </a: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Vues : 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Templates Jinja2 pour un rendu dynamique côté serveur.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" name="Google Shape;83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9562" y="0"/>
            <a:ext cx="299226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"/>
          <p:cNvSpPr/>
          <p:nvPr/>
        </p:nvSpPr>
        <p:spPr>
          <a:xfrm>
            <a:off x="365760" y="320040"/>
            <a:ext cx="54864" cy="59436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7"/>
          <p:cNvSpPr/>
          <p:nvPr/>
        </p:nvSpPr>
        <p:spPr>
          <a:xfrm>
            <a:off x="548640" y="27432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MODÉLISATION ORM &amp; SQL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365760" y="4983480"/>
            <a:ext cx="8412480" cy="27432"/>
          </a:xfrm>
          <a:prstGeom prst="rect">
            <a:avLst/>
          </a:prstGeom>
          <a:solidFill>
            <a:srgbClr val="1C2130"/>
          </a:solidFill>
          <a:ln cap="flat" cmpd="sng" w="12700">
            <a:solidFill>
              <a:srgbClr val="1C21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7"/>
          <p:cNvSpPr/>
          <p:nvPr/>
        </p:nvSpPr>
        <p:spPr>
          <a:xfrm>
            <a:off x="457200" y="1188720"/>
            <a:ext cx="4114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400"/>
              <a:buFont typeface="Calibri"/>
              <a:buNone/>
            </a:pPr>
            <a:r>
              <a:rPr b="0" i="0" lang="en-US" sz="1400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🗃 </a:t>
            </a:r>
            <a:r>
              <a:rPr b="1" i="0" lang="en-US" sz="1400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Persistance : </a:t>
            </a:r>
            <a:r>
              <a:rPr b="0" i="0" lang="en-US" sz="1400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MySQL pour le stockage pérenne des biens et transactions.</a:t>
            </a:r>
            <a:endParaRPr b="0" i="0" sz="1400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457200" y="1920240"/>
            <a:ext cx="4114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🔗 </a:t>
            </a: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Relations : 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Mapping One-to-Many entre Agents et Annonces.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457200" y="2651760"/>
            <a:ext cx="4114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🛡 </a:t>
            </a: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Transactions : 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Atomicité des offres d'achat (Commit/Rollback).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4572000" y="1005840"/>
            <a:ext cx="4206240" cy="3657600"/>
          </a:xfrm>
          <a:prstGeom prst="roundRect">
            <a:avLst>
              <a:gd fmla="val 3000" name="adj"/>
            </a:avLst>
          </a:prstGeom>
          <a:solidFill>
            <a:srgbClr val="1C2130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27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7"/>
          <p:cNvSpPr/>
          <p:nvPr/>
        </p:nvSpPr>
        <p:spPr>
          <a:xfrm>
            <a:off x="4754880" y="118872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 Schéma ORM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4754880" y="1691640"/>
            <a:ext cx="3840480" cy="731520"/>
          </a:xfrm>
          <a:prstGeom prst="roundRect">
            <a:avLst>
              <a:gd fmla="val 7500" name="adj"/>
            </a:avLst>
          </a:prstGeom>
          <a:solidFill>
            <a:srgbClr val="0D2B4E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7"/>
          <p:cNvSpPr/>
          <p:nvPr/>
        </p:nvSpPr>
        <p:spPr>
          <a:xfrm>
            <a:off x="4846320" y="1709928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User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4846320" y="202996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id, name, role, email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4754880" y="2606040"/>
            <a:ext cx="3840480" cy="731520"/>
          </a:xfrm>
          <a:prstGeom prst="roundRect">
            <a:avLst>
              <a:gd fmla="val 7500" name="adj"/>
            </a:avLst>
          </a:prstGeom>
          <a:solidFill>
            <a:srgbClr val="0D2B4E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7"/>
          <p:cNvSpPr/>
          <p:nvPr/>
        </p:nvSpPr>
        <p:spPr>
          <a:xfrm>
            <a:off x="4846320" y="2624328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Property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4846320" y="294436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id, title, price, city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4754880" y="3520440"/>
            <a:ext cx="3840480" cy="731520"/>
          </a:xfrm>
          <a:prstGeom prst="roundRect">
            <a:avLst>
              <a:gd fmla="val 7500" name="adj"/>
            </a:avLst>
          </a:prstGeom>
          <a:solidFill>
            <a:srgbClr val="0D2B4E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7"/>
          <p:cNvSpPr/>
          <p:nvPr/>
        </p:nvSpPr>
        <p:spPr>
          <a:xfrm>
            <a:off x="4846320" y="3538728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Transaction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4846320" y="385876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id, user_id, prop_id, date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"/>
          <p:cNvSpPr/>
          <p:nvPr/>
        </p:nvSpPr>
        <p:spPr>
          <a:xfrm>
            <a:off x="365760" y="320040"/>
            <a:ext cx="54864" cy="59436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8"/>
          <p:cNvSpPr/>
          <p:nvPr/>
        </p:nvSpPr>
        <p:spPr>
          <a:xfrm>
            <a:off x="548640" y="27432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ANALYTICS &amp; INTELLIGENCE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8"/>
          <p:cNvSpPr/>
          <p:nvPr/>
        </p:nvSpPr>
        <p:spPr>
          <a:xfrm>
            <a:off x="365760" y="4983480"/>
            <a:ext cx="8412480" cy="27432"/>
          </a:xfrm>
          <a:prstGeom prst="rect">
            <a:avLst/>
          </a:prstGeom>
          <a:solidFill>
            <a:srgbClr val="1C2130"/>
          </a:solidFill>
          <a:ln cap="flat" cmpd="sng" w="12700">
            <a:solidFill>
              <a:srgbClr val="1C21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8"/>
          <p:cNvSpPr/>
          <p:nvPr/>
        </p:nvSpPr>
        <p:spPr>
          <a:xfrm>
            <a:off x="274335" y="1211570"/>
            <a:ext cx="2651700" cy="3474600"/>
          </a:xfrm>
          <a:prstGeom prst="roundRect">
            <a:avLst>
              <a:gd fmla="val 4138" name="adj"/>
            </a:avLst>
          </a:prstGeom>
          <a:solidFill>
            <a:srgbClr val="1C2130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27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8"/>
          <p:cNvSpPr/>
          <p:nvPr/>
        </p:nvSpPr>
        <p:spPr>
          <a:xfrm>
            <a:off x="211850" y="1600190"/>
            <a:ext cx="246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Traitement Pandas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8"/>
          <p:cNvSpPr/>
          <p:nvPr/>
        </p:nvSpPr>
        <p:spPr>
          <a:xfrm>
            <a:off x="457200" y="2697480"/>
            <a:ext cx="24688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Calcul dynamique des moyennes du marché et agrégation des statistiques de vente en temps réel.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8"/>
          <p:cNvSpPr/>
          <p:nvPr/>
        </p:nvSpPr>
        <p:spPr>
          <a:xfrm>
            <a:off x="3291840" y="1188720"/>
            <a:ext cx="2651760" cy="3474720"/>
          </a:xfrm>
          <a:prstGeom prst="roundRect">
            <a:avLst>
              <a:gd fmla="val 4138" name="adj"/>
            </a:avLst>
          </a:prstGeom>
          <a:solidFill>
            <a:srgbClr val="1C2130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27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8"/>
          <p:cNvSpPr/>
          <p:nvPr/>
        </p:nvSpPr>
        <p:spPr>
          <a:xfrm>
            <a:off x="3383280" y="146304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/>
          <p:nvPr/>
        </p:nvSpPr>
        <p:spPr>
          <a:xfrm>
            <a:off x="3337543" y="1600190"/>
            <a:ext cx="246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Moteur de Filtres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3383280" y="2697480"/>
            <a:ext cx="24688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Requêtes SQL optimisées pour une recherche multicritère performante (prix, ville, surface).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6217920" y="1188720"/>
            <a:ext cx="2651760" cy="3474720"/>
          </a:xfrm>
          <a:prstGeom prst="roundRect">
            <a:avLst>
              <a:gd fmla="val 4138" name="adj"/>
            </a:avLst>
          </a:prstGeom>
          <a:solidFill>
            <a:srgbClr val="1C2130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27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8"/>
          <p:cNvSpPr/>
          <p:nvPr/>
        </p:nvSpPr>
        <p:spPr>
          <a:xfrm>
            <a:off x="6309360" y="146304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8"/>
          <p:cNvSpPr/>
          <p:nvPr/>
        </p:nvSpPr>
        <p:spPr>
          <a:xfrm>
            <a:off x="6309435" y="1664165"/>
            <a:ext cx="246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Dashboard Agent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6309360" y="2697480"/>
            <a:ext cx="24688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Visualisation des indicateurs clés (KPIs) pour le pilotage stratégique de l'agence.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"/>
          <p:cNvSpPr/>
          <p:nvPr/>
        </p:nvSpPr>
        <p:spPr>
          <a:xfrm>
            <a:off x="4389120" y="0"/>
            <a:ext cx="4754880" cy="5120640"/>
          </a:xfrm>
          <a:prstGeom prst="rect">
            <a:avLst/>
          </a:prstGeom>
          <a:solidFill>
            <a:srgbClr val="0D1A2E"/>
          </a:solidFill>
          <a:ln cap="flat" cmpd="sng" w="12700">
            <a:solidFill>
              <a:srgbClr val="0D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9"/>
          <p:cNvSpPr/>
          <p:nvPr/>
        </p:nvSpPr>
        <p:spPr>
          <a:xfrm>
            <a:off x="5029200" y="457200"/>
            <a:ext cx="3657600" cy="3657600"/>
          </a:xfrm>
          <a:prstGeom prst="ellipse">
            <a:avLst/>
          </a:prstGeom>
          <a:solidFill>
            <a:srgbClr val="0A2040">
              <a:alpha val="70196"/>
            </a:srgbClr>
          </a:solidFill>
          <a:ln cap="flat" cmpd="sng" w="12700">
            <a:solidFill>
              <a:srgbClr val="0A2040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9"/>
          <p:cNvSpPr/>
          <p:nvPr/>
        </p:nvSpPr>
        <p:spPr>
          <a:xfrm>
            <a:off x="365760" y="320040"/>
            <a:ext cx="54864" cy="59436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9"/>
          <p:cNvSpPr/>
          <p:nvPr/>
        </p:nvSpPr>
        <p:spPr>
          <a:xfrm>
            <a:off x="548640" y="27432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SÉCURITÉ &amp; ACCÈS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9"/>
          <p:cNvSpPr/>
          <p:nvPr/>
        </p:nvSpPr>
        <p:spPr>
          <a:xfrm>
            <a:off x="365760" y="4983480"/>
            <a:ext cx="8412480" cy="27432"/>
          </a:xfrm>
          <a:prstGeom prst="rect">
            <a:avLst/>
          </a:prstGeom>
          <a:solidFill>
            <a:srgbClr val="1C2130"/>
          </a:solidFill>
          <a:ln cap="flat" cmpd="sng" w="12700">
            <a:solidFill>
              <a:srgbClr val="1C21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9"/>
          <p:cNvSpPr/>
          <p:nvPr/>
        </p:nvSpPr>
        <p:spPr>
          <a:xfrm>
            <a:off x="457200" y="1188720"/>
            <a:ext cx="3657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7200"/>
              <a:buFont typeface="Calibri"/>
              <a:buNone/>
            </a:pPr>
            <a:r>
              <a:rPr b="1" i="0" lang="en-US" sz="72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RBAC</a:t>
            </a:r>
            <a:endParaRPr b="0" i="0" sz="7200" u="none" cap="none" strike="noStrik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9"/>
          <p:cNvSpPr/>
          <p:nvPr/>
        </p:nvSpPr>
        <p:spPr>
          <a:xfrm>
            <a:off x="457200" y="2194560"/>
            <a:ext cx="3657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Role-Based Access Control</a:t>
            </a:r>
            <a:endParaRPr b="0" i="0" sz="1600" u="none" cap="none" strike="noStrik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9"/>
          <p:cNvSpPr/>
          <p:nvPr/>
        </p:nvSpPr>
        <p:spPr>
          <a:xfrm>
            <a:off x="822960" y="283464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Authentification : </a:t>
            </a: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Hachage BCrypt des mots de passe.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9"/>
          <p:cNvSpPr/>
          <p:nvPr/>
        </p:nvSpPr>
        <p:spPr>
          <a:xfrm>
            <a:off x="457200" y="33832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9"/>
          <p:cNvSpPr/>
          <p:nvPr/>
        </p:nvSpPr>
        <p:spPr>
          <a:xfrm>
            <a:off x="822960" y="338328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Autorisation : </a:t>
            </a: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Décorateurs Python pour isoler le Back-Office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9"/>
          <p:cNvSpPr/>
          <p:nvPr/>
        </p:nvSpPr>
        <p:spPr>
          <a:xfrm>
            <a:off x="457200" y="39319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9"/>
          <p:cNvSpPr/>
          <p:nvPr/>
        </p:nvSpPr>
        <p:spPr>
          <a:xfrm>
            <a:off x="822960" y="393192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Protection : </a:t>
            </a: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Prévention des failles CSRF et injections SQL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" name="Google Shape;142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2500" y="333375"/>
            <a:ext cx="4293076" cy="4198224"/>
          </a:xfrm>
          <a:prstGeom prst="rect">
            <a:avLst/>
          </a:prstGeom>
          <a:solidFill>
            <a:srgbClr val="0A2040">
              <a:alpha val="70200"/>
            </a:srgbClr>
          </a:solidFill>
          <a:ln cap="flat" cmpd="sng" w="12700">
            <a:solidFill>
              <a:srgbClr val="0A204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"/>
          <p:cNvSpPr/>
          <p:nvPr/>
        </p:nvSpPr>
        <p:spPr>
          <a:xfrm>
            <a:off x="365760" y="320040"/>
            <a:ext cx="54864" cy="59436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0"/>
          <p:cNvSpPr/>
          <p:nvPr/>
        </p:nvSpPr>
        <p:spPr>
          <a:xfrm>
            <a:off x="548640" y="27432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UX &amp; ACCESSIBILITÉ (A11Y)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0"/>
          <p:cNvSpPr/>
          <p:nvPr/>
        </p:nvSpPr>
        <p:spPr>
          <a:xfrm>
            <a:off x="365760" y="4983480"/>
            <a:ext cx="8412480" cy="27432"/>
          </a:xfrm>
          <a:prstGeom prst="rect">
            <a:avLst/>
          </a:prstGeom>
          <a:solidFill>
            <a:srgbClr val="1C2130"/>
          </a:solidFill>
          <a:ln cap="flat" cmpd="sng" w="12700">
            <a:solidFill>
              <a:srgbClr val="1C21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0"/>
          <p:cNvSpPr/>
          <p:nvPr/>
        </p:nvSpPr>
        <p:spPr>
          <a:xfrm>
            <a:off x="457200" y="1280160"/>
            <a:ext cx="457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🌙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0"/>
          <p:cNvSpPr/>
          <p:nvPr/>
        </p:nvSpPr>
        <p:spPr>
          <a:xfrm>
            <a:off x="822960" y="1280160"/>
            <a:ext cx="3474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Dark Mode : 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Persistance via LocalStorage et variables CSS.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0"/>
          <p:cNvSpPr/>
          <p:nvPr/>
        </p:nvSpPr>
        <p:spPr>
          <a:xfrm>
            <a:off x="457200" y="2057400"/>
            <a:ext cx="457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♿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0"/>
          <p:cNvSpPr/>
          <p:nvPr/>
        </p:nvSpPr>
        <p:spPr>
          <a:xfrm>
            <a:off x="822960" y="2057400"/>
            <a:ext cx="3474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Accessibilité : 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Attributs ARIA et liens d'évitement (Skip links).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0"/>
          <p:cNvSpPr/>
          <p:nvPr/>
        </p:nvSpPr>
        <p:spPr>
          <a:xfrm>
            <a:off x="457200" y="2834640"/>
            <a:ext cx="457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📱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0"/>
          <p:cNvSpPr/>
          <p:nvPr/>
        </p:nvSpPr>
        <p:spPr>
          <a:xfrm>
            <a:off x="822960" y="2834640"/>
            <a:ext cx="3474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Responsive : 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Grilles Flexbox adaptatives tout support.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0"/>
          <p:cNvSpPr/>
          <p:nvPr/>
        </p:nvSpPr>
        <p:spPr>
          <a:xfrm>
            <a:off x="6383850" y="1061575"/>
            <a:ext cx="2495400" cy="32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300"/>
              <a:buFont typeface="Calibri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🖥 Interface Responsive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300"/>
              <a:buFont typeface="Calibri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Desktop • Tablette • Mobile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300"/>
              <a:buFont typeface="Calibri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HTML sémantique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300"/>
              <a:buFont typeface="Calibri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Attr</a:t>
            </a: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buts ARIA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300"/>
              <a:buFont typeface="Calibri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Focus visible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300"/>
              <a:buFont typeface="Calibri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Skip links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" name="Google Shape;15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450" y="3794750"/>
            <a:ext cx="3189425" cy="11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"/>
          <p:cNvSpPr/>
          <p:nvPr/>
        </p:nvSpPr>
        <p:spPr>
          <a:xfrm>
            <a:off x="1828800" y="-914400"/>
            <a:ext cx="5486400" cy="5486400"/>
          </a:xfrm>
          <a:prstGeom prst="ellipse">
            <a:avLst/>
          </a:prstGeom>
          <a:solidFill>
            <a:srgbClr val="0D2B4E">
              <a:alpha val="50199"/>
            </a:srgbClr>
          </a:solidFill>
          <a:ln cap="flat" cmpd="sng" w="12700">
            <a:solidFill>
              <a:srgbClr val="0D2B4E">
                <a:alpha val="501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1"/>
          <p:cNvSpPr/>
          <p:nvPr/>
        </p:nvSpPr>
        <p:spPr>
          <a:xfrm>
            <a:off x="0" y="2377440"/>
            <a:ext cx="9144000" cy="36576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1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 CONCLUSION </a:t>
            </a:r>
            <a:r>
              <a:rPr b="1" i="0" lang="en-US" sz="22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PARTIE DEV  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1"/>
          <p:cNvSpPr/>
          <p:nvPr/>
        </p:nvSpPr>
        <p:spPr>
          <a:xfrm>
            <a:off x="457200" y="1508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 Terminée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1"/>
          <p:cNvSpPr/>
          <p:nvPr/>
        </p:nvSpPr>
        <p:spPr>
          <a:xfrm>
            <a:off x="0" y="2414016"/>
            <a:ext cx="9144000" cy="274320"/>
          </a:xfrm>
          <a:prstGeom prst="rect">
            <a:avLst/>
          </a:prstGeom>
          <a:solidFill>
            <a:srgbClr val="3B82F6">
              <a:alpha val="20000"/>
            </a:srgbClr>
          </a:solidFill>
          <a:ln cap="flat" cmpd="sng" w="12700">
            <a:solidFill>
              <a:srgbClr val="3B82F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1"/>
          <p:cNvSpPr/>
          <p:nvPr/>
        </p:nvSpPr>
        <p:spPr>
          <a:xfrm>
            <a:off x="457200" y="27889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PARTIE INFRA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1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Architecture réseau, AD, Sécurité &amp; Services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2"/>
          <p:cNvSpPr/>
          <p:nvPr/>
        </p:nvSpPr>
        <p:spPr>
          <a:xfrm>
            <a:off x="5943600" y="-1828800"/>
            <a:ext cx="5486400" cy="5486400"/>
          </a:xfrm>
          <a:prstGeom prst="ellipse">
            <a:avLst/>
          </a:prstGeom>
          <a:solidFill>
            <a:srgbClr val="0D1F3A">
              <a:alpha val="70196"/>
            </a:srgbClr>
          </a:solidFill>
          <a:ln cap="flat" cmpd="sng" w="12700">
            <a:solidFill>
              <a:srgbClr val="0D1F3A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2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0A2A50">
              <a:alpha val="60000"/>
            </a:srgbClr>
          </a:solidFill>
          <a:ln cap="flat" cmpd="sng" w="12700">
            <a:solidFill>
              <a:srgbClr val="0A2A50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2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0D1F3A">
              <a:alpha val="50196"/>
            </a:srgbClr>
          </a:solidFill>
          <a:ln cap="flat" cmpd="sng" w="12700">
            <a:solidFill>
              <a:srgbClr val="0D1F3A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2"/>
          <p:cNvSpPr/>
          <p:nvPr/>
        </p:nvSpPr>
        <p:spPr>
          <a:xfrm>
            <a:off x="457200" y="168695"/>
            <a:ext cx="73152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YMMO : Infrastructure 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&amp; Sécurité Réseau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2"/>
          <p:cNvSpPr/>
          <p:nvPr/>
        </p:nvSpPr>
        <p:spPr>
          <a:xfrm>
            <a:off x="1183101" y="470285"/>
            <a:ext cx="45720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4400"/>
              <a:buFont typeface="Calibri"/>
              <a:buNone/>
            </a:pPr>
            <a:r>
              <a:t/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2"/>
          <p:cNvSpPr/>
          <p:nvPr/>
        </p:nvSpPr>
        <p:spPr>
          <a:xfrm>
            <a:off x="457200" y="310896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Architecture réseau, Active Directory, GPO &amp; Sécurité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2"/>
          <p:cNvSpPr/>
          <p:nvPr/>
        </p:nvSpPr>
        <p:spPr>
          <a:xfrm>
            <a:off x="457200" y="3657600"/>
            <a:ext cx="54864" cy="45720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2"/>
          <p:cNvSpPr/>
          <p:nvPr/>
        </p:nvSpPr>
        <p:spPr>
          <a:xfrm>
            <a:off x="640080" y="365760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2"/>
          <p:cNvSpPr/>
          <p:nvPr/>
        </p:nvSpPr>
        <p:spPr>
          <a:xfrm>
            <a:off x="274320" y="4480560"/>
            <a:ext cx="1325880" cy="411480"/>
          </a:xfrm>
          <a:prstGeom prst="roundRect">
            <a:avLst>
              <a:gd fmla="val 17778" name="adj"/>
            </a:avLst>
          </a:prstGeom>
          <a:solidFill>
            <a:srgbClr val="0D2B4E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2"/>
          <p:cNvSpPr/>
          <p:nvPr/>
        </p:nvSpPr>
        <p:spPr>
          <a:xfrm>
            <a:off x="274320" y="4480560"/>
            <a:ext cx="1325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Active Directory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2"/>
          <p:cNvSpPr/>
          <p:nvPr/>
        </p:nvSpPr>
        <p:spPr>
          <a:xfrm>
            <a:off x="1737360" y="4480560"/>
            <a:ext cx="1325880" cy="411480"/>
          </a:xfrm>
          <a:prstGeom prst="roundRect">
            <a:avLst>
              <a:gd fmla="val 17778" name="adj"/>
            </a:avLst>
          </a:prstGeom>
          <a:solidFill>
            <a:srgbClr val="0D2B4E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2"/>
          <p:cNvSpPr/>
          <p:nvPr/>
        </p:nvSpPr>
        <p:spPr>
          <a:xfrm>
            <a:off x="1737360" y="4480560"/>
            <a:ext cx="1325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DNS/DHCP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2"/>
          <p:cNvSpPr/>
          <p:nvPr/>
        </p:nvSpPr>
        <p:spPr>
          <a:xfrm>
            <a:off x="3200400" y="4480560"/>
            <a:ext cx="1325880" cy="411480"/>
          </a:xfrm>
          <a:prstGeom prst="roundRect">
            <a:avLst>
              <a:gd fmla="val 17778" name="adj"/>
            </a:avLst>
          </a:prstGeom>
          <a:solidFill>
            <a:srgbClr val="0D2B4E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2"/>
          <p:cNvSpPr/>
          <p:nvPr/>
        </p:nvSpPr>
        <p:spPr>
          <a:xfrm>
            <a:off x="3200400" y="4480560"/>
            <a:ext cx="1325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GPO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2"/>
          <p:cNvSpPr/>
          <p:nvPr/>
        </p:nvSpPr>
        <p:spPr>
          <a:xfrm>
            <a:off x="4663440" y="4480560"/>
            <a:ext cx="1325880" cy="411480"/>
          </a:xfrm>
          <a:prstGeom prst="roundRect">
            <a:avLst>
              <a:gd fmla="val 17778" name="adj"/>
            </a:avLst>
          </a:prstGeom>
          <a:solidFill>
            <a:srgbClr val="0D2B4E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2"/>
          <p:cNvSpPr/>
          <p:nvPr/>
        </p:nvSpPr>
        <p:spPr>
          <a:xfrm>
            <a:off x="4663440" y="4480560"/>
            <a:ext cx="1325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VPN/IPSec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2"/>
          <p:cNvSpPr/>
          <p:nvPr/>
        </p:nvSpPr>
        <p:spPr>
          <a:xfrm>
            <a:off x="6126480" y="4480560"/>
            <a:ext cx="1325880" cy="411480"/>
          </a:xfrm>
          <a:prstGeom prst="roundRect">
            <a:avLst>
              <a:gd fmla="val 17778" name="adj"/>
            </a:avLst>
          </a:prstGeom>
          <a:solidFill>
            <a:srgbClr val="0D2B4E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2"/>
          <p:cNvSpPr/>
          <p:nvPr/>
        </p:nvSpPr>
        <p:spPr>
          <a:xfrm>
            <a:off x="6126480" y="4480560"/>
            <a:ext cx="1325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Firewall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2"/>
          <p:cNvSpPr/>
          <p:nvPr/>
        </p:nvSpPr>
        <p:spPr>
          <a:xfrm>
            <a:off x="7589520" y="4480560"/>
            <a:ext cx="1325880" cy="411480"/>
          </a:xfrm>
          <a:prstGeom prst="roundRect">
            <a:avLst>
              <a:gd fmla="val 17778" name="adj"/>
            </a:avLst>
          </a:prstGeom>
          <a:solidFill>
            <a:srgbClr val="0D2B4E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2"/>
          <p:cNvSpPr/>
          <p:nvPr/>
        </p:nvSpPr>
        <p:spPr>
          <a:xfrm>
            <a:off x="7589520" y="4480560"/>
            <a:ext cx="1325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Sécurité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2"/>
          <p:cNvSpPr/>
          <p:nvPr/>
        </p:nvSpPr>
        <p:spPr>
          <a:xfrm>
            <a:off x="365760" y="4983480"/>
            <a:ext cx="8412480" cy="27432"/>
          </a:xfrm>
          <a:prstGeom prst="rect">
            <a:avLst/>
          </a:prstGeom>
          <a:solidFill>
            <a:srgbClr val="1C2130"/>
          </a:solidFill>
          <a:ln cap="flat" cmpd="sng" w="12700">
            <a:solidFill>
              <a:srgbClr val="1C21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3"/>
          <p:cNvSpPr/>
          <p:nvPr/>
        </p:nvSpPr>
        <p:spPr>
          <a:xfrm>
            <a:off x="365760" y="320040"/>
            <a:ext cx="54864" cy="59436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3"/>
          <p:cNvSpPr/>
          <p:nvPr/>
        </p:nvSpPr>
        <p:spPr>
          <a:xfrm>
            <a:off x="548640" y="27432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OBJECTIF &amp; CONTEXTE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3"/>
          <p:cNvSpPr/>
          <p:nvPr/>
        </p:nvSpPr>
        <p:spPr>
          <a:xfrm>
            <a:off x="365760" y="4983480"/>
            <a:ext cx="8412480" cy="27432"/>
          </a:xfrm>
          <a:prstGeom prst="rect">
            <a:avLst/>
          </a:prstGeom>
          <a:solidFill>
            <a:srgbClr val="1C2130"/>
          </a:solidFill>
          <a:ln cap="flat" cmpd="sng" w="12700">
            <a:solidFill>
              <a:srgbClr val="1C21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3"/>
          <p:cNvSpPr/>
          <p:nvPr/>
        </p:nvSpPr>
        <p:spPr>
          <a:xfrm>
            <a:off x="365760" y="1005840"/>
            <a:ext cx="5303520" cy="2011680"/>
          </a:xfrm>
          <a:prstGeom prst="roundRect">
            <a:avLst>
              <a:gd fmla="val 5455" name="adj"/>
            </a:avLst>
          </a:prstGeom>
          <a:solidFill>
            <a:srgbClr val="1C2130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27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3"/>
          <p:cNvSpPr/>
          <p:nvPr/>
        </p:nvSpPr>
        <p:spPr>
          <a:xfrm>
            <a:off x="548640" y="114300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 Objectif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3"/>
          <p:cNvSpPr/>
          <p:nvPr/>
        </p:nvSpPr>
        <p:spPr>
          <a:xfrm>
            <a:off x="548640" y="1572768"/>
            <a:ext cx="4937700" cy="13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200"/>
              <a:buFont typeface="Calibri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Concevoir et déployer une architecture réseau sécurisée et scalable pour YMMO, reliant le siège d'Aix-en-Provence aux 12 agences via VPN/IPSec, avec gestion centralisée des utilisateurs (AD), des ressources partagées et des politiques de sécurité.</a:t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3"/>
          <p:cNvSpPr/>
          <p:nvPr/>
        </p:nvSpPr>
        <p:spPr>
          <a:xfrm>
            <a:off x="365760" y="3154680"/>
            <a:ext cx="2468880" cy="1828800"/>
          </a:xfrm>
          <a:prstGeom prst="roundRect">
            <a:avLst>
              <a:gd fmla="val 6000" name="adj"/>
            </a:avLst>
          </a:prstGeom>
          <a:solidFill>
            <a:srgbClr val="1C2130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27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3"/>
          <p:cNvSpPr/>
          <p:nvPr/>
        </p:nvSpPr>
        <p:spPr>
          <a:xfrm>
            <a:off x="548640" y="3273552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 Siège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3"/>
          <p:cNvSpPr/>
          <p:nvPr/>
        </p:nvSpPr>
        <p:spPr>
          <a:xfrm>
            <a:off x="548640" y="3675888"/>
            <a:ext cx="21945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200"/>
              <a:buFont typeface="Calibri"/>
              <a:buNone/>
            </a:pPr>
            <a:r>
              <a:rPr b="0" i="0" lang="en-US" sz="1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~30 postes</a:t>
            </a:r>
            <a:endParaRPr b="0" i="0" sz="1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200"/>
              <a:buFont typeface="Calibri"/>
              <a:buNone/>
            </a:pPr>
            <a:r>
              <a:rPr b="0" i="0" lang="en-US" sz="1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2 serveurs</a:t>
            </a:r>
            <a:endParaRPr b="0" i="0" sz="1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200"/>
              <a:buFont typeface="Calibri"/>
              <a:buNone/>
            </a:pPr>
            <a:r>
              <a:rPr b="0" i="0" lang="en-US" sz="1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1 routeur/firewall</a:t>
            </a:r>
            <a:endParaRPr b="0" i="0" sz="1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200"/>
              <a:buFont typeface="Calibri"/>
              <a:buNone/>
            </a:pPr>
            <a:r>
              <a:rPr b="0" i="0" lang="en-US" sz="1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1 imprimante</a:t>
            </a:r>
            <a:endParaRPr b="0" i="0" sz="1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3"/>
          <p:cNvSpPr/>
          <p:nvPr/>
        </p:nvSpPr>
        <p:spPr>
          <a:xfrm>
            <a:off x="3108960" y="3154680"/>
            <a:ext cx="2560320" cy="1828800"/>
          </a:xfrm>
          <a:prstGeom prst="roundRect">
            <a:avLst>
              <a:gd fmla="val 6000" name="adj"/>
            </a:avLst>
          </a:prstGeom>
          <a:solidFill>
            <a:srgbClr val="1C2130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27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3"/>
          <p:cNvSpPr/>
          <p:nvPr/>
        </p:nvSpPr>
        <p:spPr>
          <a:xfrm>
            <a:off x="3291840" y="3273552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 Agences (x12)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3"/>
          <p:cNvSpPr/>
          <p:nvPr/>
        </p:nvSpPr>
        <p:spPr>
          <a:xfrm>
            <a:off x="3291840" y="3675888"/>
            <a:ext cx="21945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200"/>
              <a:buFont typeface="Calibri"/>
              <a:buNone/>
            </a:pPr>
            <a:r>
              <a:rPr b="0" i="0" lang="en-US" sz="1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~5 postes/agence</a:t>
            </a:r>
            <a:endParaRPr b="0" i="0" sz="1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200"/>
              <a:buFont typeface="Calibri"/>
              <a:buNone/>
            </a:pPr>
            <a:r>
              <a:rPr b="0" i="0" lang="en-US" sz="1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1 routeur/firewall</a:t>
            </a:r>
            <a:endParaRPr b="0" i="0" sz="1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200"/>
              <a:buFont typeface="Calibri"/>
              <a:buNone/>
            </a:pPr>
            <a:r>
              <a:rPr b="0" i="0" lang="en-US" sz="1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1 imprimante</a:t>
            </a:r>
            <a:endParaRPr b="0" i="0" sz="1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200"/>
              <a:buFont typeface="Calibri"/>
              <a:buNone/>
            </a:pPr>
            <a:r>
              <a:rPr b="0" i="0" lang="en-US" sz="1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Connexion VPN/IPSec</a:t>
            </a:r>
            <a:endParaRPr b="0" i="0" sz="1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3"/>
          <p:cNvSpPr/>
          <p:nvPr/>
        </p:nvSpPr>
        <p:spPr>
          <a:xfrm>
            <a:off x="5943600" y="1005840"/>
            <a:ext cx="2834640" cy="3977640"/>
          </a:xfrm>
          <a:prstGeom prst="roundRect">
            <a:avLst>
              <a:gd fmla="val 3871" name="adj"/>
            </a:avLst>
          </a:prstGeom>
          <a:solidFill>
            <a:srgbClr val="1C2130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27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3"/>
          <p:cNvSpPr/>
          <p:nvPr/>
        </p:nvSpPr>
        <p:spPr>
          <a:xfrm>
            <a:off x="6126480" y="1143000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14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Livrables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3"/>
          <p:cNvSpPr/>
          <p:nvPr/>
        </p:nvSpPr>
        <p:spPr>
          <a:xfrm>
            <a:off x="6126480" y="1572768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000"/>
              <a:buFont typeface="Calibri"/>
              <a:buNone/>
            </a:pPr>
            <a:r>
              <a:rPr b="0" i="0" lang="en-US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✅ Schéma d'architecture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3"/>
          <p:cNvSpPr/>
          <p:nvPr/>
        </p:nvSpPr>
        <p:spPr>
          <a:xfrm>
            <a:off x="6126480" y="1911096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000"/>
              <a:buFont typeface="Calibri"/>
              <a:buNone/>
            </a:pPr>
            <a:r>
              <a:rPr b="0" i="0" lang="en-US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✅ Plan d'adressage IP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3"/>
          <p:cNvSpPr/>
          <p:nvPr/>
        </p:nvSpPr>
        <p:spPr>
          <a:xfrm>
            <a:off x="6126480" y="2249424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000"/>
              <a:buFont typeface="Calibri"/>
              <a:buNone/>
            </a:pPr>
            <a:r>
              <a:rPr b="0" i="0" lang="en-US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✅ Politique de sécurité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3"/>
          <p:cNvSpPr/>
          <p:nvPr/>
        </p:nvSpPr>
        <p:spPr>
          <a:xfrm>
            <a:off x="6126480" y="2587752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000"/>
              <a:buFont typeface="Calibri"/>
              <a:buNone/>
            </a:pPr>
            <a:r>
              <a:rPr b="0" i="0" lang="en-US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✅ Gestion des droits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3"/>
          <p:cNvSpPr/>
          <p:nvPr/>
        </p:nvSpPr>
        <p:spPr>
          <a:xfrm>
            <a:off x="6126480" y="2926080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000"/>
              <a:buFont typeface="Calibri"/>
              <a:buNone/>
            </a:pPr>
            <a:r>
              <a:rPr b="0" i="0" lang="en-US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✅ Guide config serveurs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3"/>
          <p:cNvSpPr/>
          <p:nvPr/>
        </p:nvSpPr>
        <p:spPr>
          <a:xfrm>
            <a:off x="6126475" y="3264400"/>
            <a:ext cx="26517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000"/>
              <a:buFont typeface="Calibri"/>
              <a:buNone/>
            </a:pPr>
            <a:r>
              <a:rPr b="0" i="0" lang="en-US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✅ Plan sauvegarde / supervision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3"/>
          <p:cNvSpPr/>
          <p:nvPr/>
        </p:nvSpPr>
        <p:spPr>
          <a:xfrm>
            <a:off x="6126480" y="3602736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000"/>
              <a:buFont typeface="Calibri"/>
              <a:buNone/>
            </a:pPr>
            <a:r>
              <a:rPr b="0" i="0" lang="en-US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✅ Solution Cloud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3"/>
          <p:cNvSpPr/>
          <p:nvPr/>
        </p:nvSpPr>
        <p:spPr>
          <a:xfrm>
            <a:off x="6126480" y="3941064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000"/>
              <a:buFont typeface="Calibri"/>
              <a:buNone/>
            </a:pPr>
            <a:r>
              <a:rPr b="0" i="0" lang="en-US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✅ Guide déploiement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3"/>
          <p:cNvSpPr/>
          <p:nvPr/>
        </p:nvSpPr>
        <p:spPr>
          <a:xfrm>
            <a:off x="6126480" y="4279392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🔄 Matériel &amp; budget</a:t>
            </a:r>
            <a:endParaRPr b="0" i="0" u="none" cap="none" strike="noStrike">
              <a:solidFill>
                <a:srgbClr val="3B82F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3"/>
          <p:cNvSpPr/>
          <p:nvPr/>
        </p:nvSpPr>
        <p:spPr>
          <a:xfrm>
            <a:off x="6126480" y="4617720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🔄 Démo VMs</a:t>
            </a:r>
            <a:endParaRPr b="0" i="0" u="none" cap="none" strike="noStrike">
              <a:solidFill>
                <a:srgbClr val="3B82F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4"/>
          <p:cNvSpPr/>
          <p:nvPr/>
        </p:nvSpPr>
        <p:spPr>
          <a:xfrm>
            <a:off x="365760" y="320040"/>
            <a:ext cx="54864" cy="59436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4"/>
          <p:cNvSpPr/>
          <p:nvPr/>
        </p:nvSpPr>
        <p:spPr>
          <a:xfrm>
            <a:off x="548640" y="27432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RÉSEAU — VUE LOGIQUE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4"/>
          <p:cNvSpPr/>
          <p:nvPr/>
        </p:nvSpPr>
        <p:spPr>
          <a:xfrm>
            <a:off x="365760" y="4983480"/>
            <a:ext cx="8412480" cy="27432"/>
          </a:xfrm>
          <a:prstGeom prst="rect">
            <a:avLst/>
          </a:prstGeom>
          <a:solidFill>
            <a:srgbClr val="1C2130"/>
          </a:solidFill>
          <a:ln cap="flat" cmpd="sng" w="12700">
            <a:solidFill>
              <a:srgbClr val="1C21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4"/>
          <p:cNvSpPr/>
          <p:nvPr/>
        </p:nvSpPr>
        <p:spPr>
          <a:xfrm flipH="1" rot="10800000">
            <a:off x="3474725" y="1691760"/>
            <a:ext cx="2194500" cy="3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4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6" name="Google Shape;23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700" y="1018375"/>
            <a:ext cx="3279025" cy="3535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43975" y="1039700"/>
            <a:ext cx="4242950" cy="349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5"/>
          <p:cNvSpPr/>
          <p:nvPr/>
        </p:nvSpPr>
        <p:spPr>
          <a:xfrm>
            <a:off x="365760" y="320040"/>
            <a:ext cx="54864" cy="59436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5"/>
          <p:cNvSpPr/>
          <p:nvPr/>
        </p:nvSpPr>
        <p:spPr>
          <a:xfrm>
            <a:off x="548640" y="27432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 D'ADRESSAGE IP &amp; MATÉRIEL / BUDGET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5"/>
          <p:cNvSpPr/>
          <p:nvPr/>
        </p:nvSpPr>
        <p:spPr>
          <a:xfrm>
            <a:off x="365760" y="4983480"/>
            <a:ext cx="8412480" cy="27432"/>
          </a:xfrm>
          <a:prstGeom prst="rect">
            <a:avLst/>
          </a:prstGeom>
          <a:solidFill>
            <a:srgbClr val="1C2130"/>
          </a:solidFill>
          <a:ln cap="flat" cmpd="sng" w="12700">
            <a:solidFill>
              <a:srgbClr val="1C21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5"/>
          <p:cNvSpPr/>
          <p:nvPr/>
        </p:nvSpPr>
        <p:spPr>
          <a:xfrm>
            <a:off x="5577840" y="1005840"/>
            <a:ext cx="3291840" cy="3931920"/>
          </a:xfrm>
          <a:prstGeom prst="roundRect">
            <a:avLst>
              <a:gd fmla="val 3333" name="adj"/>
            </a:avLst>
          </a:prstGeom>
          <a:solidFill>
            <a:srgbClr val="1C2130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27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5"/>
          <p:cNvSpPr/>
          <p:nvPr/>
        </p:nvSpPr>
        <p:spPr>
          <a:xfrm>
            <a:off x="5760720" y="1115568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 Matériel &amp; Budget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5"/>
          <p:cNvSpPr/>
          <p:nvPr/>
        </p:nvSpPr>
        <p:spPr>
          <a:xfrm>
            <a:off x="5669280" y="1572768"/>
            <a:ext cx="3108960" cy="347472"/>
          </a:xfrm>
          <a:prstGeom prst="roundRect">
            <a:avLst>
              <a:gd fmla="val 10526" name="adj"/>
            </a:avLst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5"/>
          <p:cNvSpPr/>
          <p:nvPr/>
        </p:nvSpPr>
        <p:spPr>
          <a:xfrm>
            <a:off x="5715000" y="1572768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12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Serveur Dell PowerEdge</a:t>
            </a:r>
            <a:endParaRPr b="0" i="0" sz="12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5"/>
          <p:cNvSpPr/>
          <p:nvPr/>
        </p:nvSpPr>
        <p:spPr>
          <a:xfrm>
            <a:off x="7452360" y="1572768"/>
            <a:ext cx="457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2×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5"/>
          <p:cNvSpPr/>
          <p:nvPr/>
        </p:nvSpPr>
        <p:spPr>
          <a:xfrm>
            <a:off x="7909560" y="1572768"/>
            <a:ext cx="822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~3 000€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5"/>
          <p:cNvSpPr/>
          <p:nvPr/>
        </p:nvSpPr>
        <p:spPr>
          <a:xfrm>
            <a:off x="5669280" y="1975104"/>
            <a:ext cx="3108960" cy="347472"/>
          </a:xfrm>
          <a:prstGeom prst="roundRect">
            <a:avLst>
              <a:gd fmla="val 10526" name="adj"/>
            </a:avLst>
          </a:prstGeom>
          <a:solidFill>
            <a:srgbClr val="1C2130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5"/>
          <p:cNvSpPr/>
          <p:nvPr/>
        </p:nvSpPr>
        <p:spPr>
          <a:xfrm>
            <a:off x="5715000" y="1975104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14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Switch manageable</a:t>
            </a:r>
            <a:endParaRPr b="0" i="0" sz="14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5"/>
          <p:cNvSpPr/>
          <p:nvPr/>
        </p:nvSpPr>
        <p:spPr>
          <a:xfrm>
            <a:off x="7452360" y="1975104"/>
            <a:ext cx="457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1×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5"/>
          <p:cNvSpPr/>
          <p:nvPr/>
        </p:nvSpPr>
        <p:spPr>
          <a:xfrm>
            <a:off x="7909560" y="1975104"/>
            <a:ext cx="822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~500€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5"/>
          <p:cNvSpPr/>
          <p:nvPr/>
        </p:nvSpPr>
        <p:spPr>
          <a:xfrm>
            <a:off x="5669280" y="2377440"/>
            <a:ext cx="3108960" cy="347472"/>
          </a:xfrm>
          <a:prstGeom prst="roundRect">
            <a:avLst>
              <a:gd fmla="val 10526" name="adj"/>
            </a:avLst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5"/>
          <p:cNvSpPr/>
          <p:nvPr/>
        </p:nvSpPr>
        <p:spPr>
          <a:xfrm>
            <a:off x="5715000" y="2377440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15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Firewall siège</a:t>
            </a:r>
            <a:endParaRPr b="0" i="0" sz="15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5"/>
          <p:cNvSpPr/>
          <p:nvPr/>
        </p:nvSpPr>
        <p:spPr>
          <a:xfrm>
            <a:off x="7452360" y="2377440"/>
            <a:ext cx="457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1×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5"/>
          <p:cNvSpPr/>
          <p:nvPr/>
        </p:nvSpPr>
        <p:spPr>
          <a:xfrm>
            <a:off x="7909560" y="2377440"/>
            <a:ext cx="822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~800€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5"/>
          <p:cNvSpPr/>
          <p:nvPr/>
        </p:nvSpPr>
        <p:spPr>
          <a:xfrm>
            <a:off x="5669280" y="2779776"/>
            <a:ext cx="3108960" cy="347472"/>
          </a:xfrm>
          <a:prstGeom prst="roundRect">
            <a:avLst>
              <a:gd fmla="val 10526" name="adj"/>
            </a:avLst>
          </a:prstGeom>
          <a:solidFill>
            <a:srgbClr val="1C2130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5"/>
          <p:cNvSpPr/>
          <p:nvPr/>
        </p:nvSpPr>
        <p:spPr>
          <a:xfrm>
            <a:off x="5715000" y="2779776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1450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Firewall agence</a:t>
            </a:r>
            <a:endParaRPr b="0" i="0" sz="1450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5"/>
          <p:cNvSpPr/>
          <p:nvPr/>
        </p:nvSpPr>
        <p:spPr>
          <a:xfrm>
            <a:off x="7452360" y="2779776"/>
            <a:ext cx="457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12×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5"/>
          <p:cNvSpPr/>
          <p:nvPr/>
        </p:nvSpPr>
        <p:spPr>
          <a:xfrm>
            <a:off x="7909560" y="2779776"/>
            <a:ext cx="822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~400€/u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5"/>
          <p:cNvSpPr/>
          <p:nvPr/>
        </p:nvSpPr>
        <p:spPr>
          <a:xfrm>
            <a:off x="5669280" y="3182112"/>
            <a:ext cx="3108960" cy="347472"/>
          </a:xfrm>
          <a:prstGeom prst="roundRect">
            <a:avLst>
              <a:gd fmla="val 10526" name="adj"/>
            </a:avLst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5"/>
          <p:cNvSpPr/>
          <p:nvPr/>
        </p:nvSpPr>
        <p:spPr>
          <a:xfrm>
            <a:off x="5715000" y="3182112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14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Postes siège</a:t>
            </a:r>
            <a:endParaRPr b="0" i="0" sz="14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5"/>
          <p:cNvSpPr/>
          <p:nvPr/>
        </p:nvSpPr>
        <p:spPr>
          <a:xfrm>
            <a:off x="7452360" y="3182112"/>
            <a:ext cx="457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30×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5"/>
          <p:cNvSpPr/>
          <p:nvPr/>
        </p:nvSpPr>
        <p:spPr>
          <a:xfrm>
            <a:off x="7909560" y="3182112"/>
            <a:ext cx="822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~700€/u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5"/>
          <p:cNvSpPr/>
          <p:nvPr/>
        </p:nvSpPr>
        <p:spPr>
          <a:xfrm>
            <a:off x="5669280" y="3584448"/>
            <a:ext cx="3108960" cy="347472"/>
          </a:xfrm>
          <a:prstGeom prst="roundRect">
            <a:avLst>
              <a:gd fmla="val 10526" name="adj"/>
            </a:avLst>
          </a:prstGeom>
          <a:solidFill>
            <a:srgbClr val="1C2130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5"/>
          <p:cNvSpPr/>
          <p:nvPr/>
        </p:nvSpPr>
        <p:spPr>
          <a:xfrm>
            <a:off x="5715000" y="3584448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14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Postes agences</a:t>
            </a:r>
            <a:endParaRPr b="0" i="0" sz="14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5"/>
          <p:cNvSpPr/>
          <p:nvPr/>
        </p:nvSpPr>
        <p:spPr>
          <a:xfrm>
            <a:off x="7452360" y="3584448"/>
            <a:ext cx="457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60×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5"/>
          <p:cNvSpPr/>
          <p:nvPr/>
        </p:nvSpPr>
        <p:spPr>
          <a:xfrm>
            <a:off x="7909560" y="3584448"/>
            <a:ext cx="822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~600€/u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5"/>
          <p:cNvSpPr/>
          <p:nvPr/>
        </p:nvSpPr>
        <p:spPr>
          <a:xfrm>
            <a:off x="5669280" y="3986784"/>
            <a:ext cx="3108960" cy="347472"/>
          </a:xfrm>
          <a:prstGeom prst="roundRect">
            <a:avLst>
              <a:gd fmla="val 10526" name="adj"/>
            </a:avLst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5"/>
          <p:cNvSpPr/>
          <p:nvPr/>
        </p:nvSpPr>
        <p:spPr>
          <a:xfrm>
            <a:off x="5715000" y="3986784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14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Imprimantes</a:t>
            </a:r>
            <a:endParaRPr b="0" i="0" sz="14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5"/>
          <p:cNvSpPr/>
          <p:nvPr/>
        </p:nvSpPr>
        <p:spPr>
          <a:xfrm>
            <a:off x="7452360" y="3986784"/>
            <a:ext cx="457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13×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5"/>
          <p:cNvSpPr/>
          <p:nvPr/>
        </p:nvSpPr>
        <p:spPr>
          <a:xfrm>
            <a:off x="7909560" y="3986784"/>
            <a:ext cx="822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~300€/u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5"/>
          <p:cNvSpPr/>
          <p:nvPr/>
        </p:nvSpPr>
        <p:spPr>
          <a:xfrm>
            <a:off x="5669280" y="4389120"/>
            <a:ext cx="3108960" cy="347472"/>
          </a:xfrm>
          <a:prstGeom prst="roundRect">
            <a:avLst>
              <a:gd fmla="val 10526" name="adj"/>
            </a:avLst>
          </a:prstGeom>
          <a:solidFill>
            <a:srgbClr val="1C2130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5"/>
          <p:cNvSpPr/>
          <p:nvPr/>
        </p:nvSpPr>
        <p:spPr>
          <a:xfrm>
            <a:off x="5715000" y="4389120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14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Câblage &amp; infra</a:t>
            </a:r>
            <a:endParaRPr b="0" i="0" sz="14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5"/>
          <p:cNvSpPr/>
          <p:nvPr/>
        </p:nvSpPr>
        <p:spPr>
          <a:xfrm>
            <a:off x="7452360" y="4389120"/>
            <a:ext cx="457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5"/>
          <p:cNvSpPr/>
          <p:nvPr/>
        </p:nvSpPr>
        <p:spPr>
          <a:xfrm>
            <a:off x="7909560" y="4389120"/>
            <a:ext cx="822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~2 000€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5"/>
          <p:cNvSpPr/>
          <p:nvPr/>
        </p:nvSpPr>
        <p:spPr>
          <a:xfrm>
            <a:off x="5669280" y="4754880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Total estimé : ~90 000 €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1" name="Google Shape;28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97850"/>
            <a:ext cx="5257800" cy="278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6"/>
          <p:cNvSpPr/>
          <p:nvPr/>
        </p:nvSpPr>
        <p:spPr>
          <a:xfrm>
            <a:off x="365760" y="320040"/>
            <a:ext cx="54864" cy="59436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6"/>
          <p:cNvSpPr/>
          <p:nvPr/>
        </p:nvSpPr>
        <p:spPr>
          <a:xfrm>
            <a:off x="548640" y="27432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ACTIVE DIRECTORY &amp; DOMAINE ymmo.local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6"/>
          <p:cNvSpPr/>
          <p:nvPr/>
        </p:nvSpPr>
        <p:spPr>
          <a:xfrm>
            <a:off x="365760" y="4983480"/>
            <a:ext cx="8412480" cy="27432"/>
          </a:xfrm>
          <a:prstGeom prst="rect">
            <a:avLst/>
          </a:prstGeom>
          <a:solidFill>
            <a:srgbClr val="1C2130"/>
          </a:solidFill>
          <a:ln cap="flat" cmpd="sng" w="12700">
            <a:solidFill>
              <a:srgbClr val="1C21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6"/>
          <p:cNvSpPr/>
          <p:nvPr/>
        </p:nvSpPr>
        <p:spPr>
          <a:xfrm>
            <a:off x="274320" y="1005840"/>
            <a:ext cx="3474720" cy="3931920"/>
          </a:xfrm>
          <a:prstGeom prst="roundRect">
            <a:avLst>
              <a:gd fmla="val 3158" name="adj"/>
            </a:avLst>
          </a:prstGeom>
          <a:solidFill>
            <a:srgbClr val="1C2130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27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6"/>
          <p:cNvSpPr/>
          <p:nvPr/>
        </p:nvSpPr>
        <p:spPr>
          <a:xfrm>
            <a:off x="457200" y="1115568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 Configuration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6"/>
          <p:cNvSpPr/>
          <p:nvPr/>
        </p:nvSpPr>
        <p:spPr>
          <a:xfrm>
            <a:off x="411480" y="1554480"/>
            <a:ext cx="228600" cy="228600"/>
          </a:xfrm>
          <a:prstGeom prst="ellipse">
            <a:avLst/>
          </a:prstGeom>
          <a:solidFill>
            <a:srgbClr val="0D2B4E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6"/>
          <p:cNvSpPr/>
          <p:nvPr/>
        </p:nvSpPr>
        <p:spPr>
          <a:xfrm>
            <a:off x="411480" y="155448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6"/>
          <p:cNvSpPr/>
          <p:nvPr/>
        </p:nvSpPr>
        <p:spPr>
          <a:xfrm>
            <a:off x="713232" y="1554480"/>
            <a:ext cx="2926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Installation rôle AD DS</a:t>
            </a:r>
            <a:endParaRPr b="0" i="0" sz="1100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6"/>
          <p:cNvSpPr/>
          <p:nvPr/>
        </p:nvSpPr>
        <p:spPr>
          <a:xfrm>
            <a:off x="411480" y="1892808"/>
            <a:ext cx="228600" cy="228600"/>
          </a:xfrm>
          <a:prstGeom prst="ellipse">
            <a:avLst/>
          </a:prstGeom>
          <a:solidFill>
            <a:srgbClr val="0D2B4E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6"/>
          <p:cNvSpPr/>
          <p:nvPr/>
        </p:nvSpPr>
        <p:spPr>
          <a:xfrm>
            <a:off x="411480" y="1892808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6"/>
          <p:cNvSpPr/>
          <p:nvPr/>
        </p:nvSpPr>
        <p:spPr>
          <a:xfrm>
            <a:off x="713232" y="1892808"/>
            <a:ext cx="2926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Promotion contrôleur de domaine</a:t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6"/>
          <p:cNvSpPr/>
          <p:nvPr/>
        </p:nvSpPr>
        <p:spPr>
          <a:xfrm>
            <a:off x="411480" y="2231136"/>
            <a:ext cx="228600" cy="228600"/>
          </a:xfrm>
          <a:prstGeom prst="ellipse">
            <a:avLst/>
          </a:prstGeom>
          <a:solidFill>
            <a:srgbClr val="0D2B4E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6"/>
          <p:cNvSpPr/>
          <p:nvPr/>
        </p:nvSpPr>
        <p:spPr>
          <a:xfrm>
            <a:off x="411480" y="2231136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6"/>
          <p:cNvSpPr/>
          <p:nvPr/>
        </p:nvSpPr>
        <p:spPr>
          <a:xfrm>
            <a:off x="713232" y="2231136"/>
            <a:ext cx="2926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Création domaine ymmo.local</a:t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6"/>
          <p:cNvSpPr/>
          <p:nvPr/>
        </p:nvSpPr>
        <p:spPr>
          <a:xfrm>
            <a:off x="411480" y="2569464"/>
            <a:ext cx="228600" cy="228600"/>
          </a:xfrm>
          <a:prstGeom prst="ellipse">
            <a:avLst/>
          </a:prstGeom>
          <a:solidFill>
            <a:srgbClr val="0D2B4E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6"/>
          <p:cNvSpPr/>
          <p:nvPr/>
        </p:nvSpPr>
        <p:spPr>
          <a:xfrm>
            <a:off x="411480" y="2569464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6"/>
          <p:cNvSpPr/>
          <p:nvPr/>
        </p:nvSpPr>
        <p:spPr>
          <a:xfrm>
            <a:off x="713232" y="2569464"/>
            <a:ext cx="2926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DNS automatique installé</a:t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6"/>
          <p:cNvSpPr/>
          <p:nvPr/>
        </p:nvSpPr>
        <p:spPr>
          <a:xfrm>
            <a:off x="411480" y="2907792"/>
            <a:ext cx="228600" cy="228600"/>
          </a:xfrm>
          <a:prstGeom prst="ellipse">
            <a:avLst/>
          </a:prstGeom>
          <a:solidFill>
            <a:srgbClr val="0D2B4E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6"/>
          <p:cNvSpPr/>
          <p:nvPr/>
        </p:nvSpPr>
        <p:spPr>
          <a:xfrm>
            <a:off x="411480" y="2907792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6"/>
          <p:cNvSpPr/>
          <p:nvPr/>
        </p:nvSpPr>
        <p:spPr>
          <a:xfrm>
            <a:off x="713232" y="2907792"/>
            <a:ext cx="2926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OU principale : YMMO</a:t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6"/>
          <p:cNvSpPr/>
          <p:nvPr/>
        </p:nvSpPr>
        <p:spPr>
          <a:xfrm>
            <a:off x="411480" y="3246120"/>
            <a:ext cx="228600" cy="228600"/>
          </a:xfrm>
          <a:prstGeom prst="ellipse">
            <a:avLst/>
          </a:prstGeom>
          <a:solidFill>
            <a:srgbClr val="0D2B4E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6"/>
          <p:cNvSpPr/>
          <p:nvPr/>
        </p:nvSpPr>
        <p:spPr>
          <a:xfrm>
            <a:off x="411480" y="324612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6"/>
          <p:cNvSpPr/>
          <p:nvPr/>
        </p:nvSpPr>
        <p:spPr>
          <a:xfrm>
            <a:off x="713232" y="3246120"/>
            <a:ext cx="2926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 sous-OUs (1 par pôle)</a:t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6"/>
          <p:cNvSpPr/>
          <p:nvPr/>
        </p:nvSpPr>
        <p:spPr>
          <a:xfrm>
            <a:off x="411480" y="3584448"/>
            <a:ext cx="228600" cy="228600"/>
          </a:xfrm>
          <a:prstGeom prst="ellipse">
            <a:avLst/>
          </a:prstGeom>
          <a:solidFill>
            <a:srgbClr val="0D2B4E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6"/>
          <p:cNvSpPr/>
          <p:nvPr/>
        </p:nvSpPr>
        <p:spPr>
          <a:xfrm>
            <a:off x="411480" y="3584448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6"/>
          <p:cNvSpPr/>
          <p:nvPr/>
        </p:nvSpPr>
        <p:spPr>
          <a:xfrm>
            <a:off x="713232" y="3584448"/>
            <a:ext cx="2926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 groupes de sécurité (Global)</a:t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6"/>
          <p:cNvSpPr/>
          <p:nvPr/>
        </p:nvSpPr>
        <p:spPr>
          <a:xfrm>
            <a:off x="411480" y="3922776"/>
            <a:ext cx="228600" cy="228600"/>
          </a:xfrm>
          <a:prstGeom prst="ellipse">
            <a:avLst/>
          </a:prstGeom>
          <a:solidFill>
            <a:srgbClr val="0D2B4E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6"/>
          <p:cNvSpPr/>
          <p:nvPr/>
        </p:nvSpPr>
        <p:spPr>
          <a:xfrm>
            <a:off x="411480" y="3922776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6"/>
          <p:cNvSpPr/>
          <p:nvPr/>
        </p:nvSpPr>
        <p:spPr>
          <a:xfrm>
            <a:off x="713232" y="3922776"/>
            <a:ext cx="2926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 utilisateurs (2/pôle)</a:t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6"/>
          <p:cNvSpPr/>
          <p:nvPr/>
        </p:nvSpPr>
        <p:spPr>
          <a:xfrm>
            <a:off x="411480" y="4261104"/>
            <a:ext cx="228600" cy="228600"/>
          </a:xfrm>
          <a:prstGeom prst="ellipse">
            <a:avLst/>
          </a:prstGeom>
          <a:solidFill>
            <a:srgbClr val="0D2B4E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6"/>
          <p:cNvSpPr/>
          <p:nvPr/>
        </p:nvSpPr>
        <p:spPr>
          <a:xfrm>
            <a:off x="411480" y="4261104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6"/>
          <p:cNvSpPr/>
          <p:nvPr/>
        </p:nvSpPr>
        <p:spPr>
          <a:xfrm>
            <a:off x="713232" y="4261104"/>
            <a:ext cx="2926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Client joint au domaine</a:t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6"/>
          <p:cNvSpPr/>
          <p:nvPr/>
        </p:nvSpPr>
        <p:spPr>
          <a:xfrm>
            <a:off x="4023360" y="1005840"/>
            <a:ext cx="4846320" cy="3931920"/>
          </a:xfrm>
          <a:prstGeom prst="roundRect">
            <a:avLst>
              <a:gd fmla="val 2791" name="adj"/>
            </a:avLst>
          </a:prstGeom>
          <a:solidFill>
            <a:srgbClr val="1C2130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27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6"/>
          <p:cNvSpPr/>
          <p:nvPr/>
        </p:nvSpPr>
        <p:spPr>
          <a:xfrm>
            <a:off x="4206240" y="1115568"/>
            <a:ext cx="4480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 Structure OUs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6"/>
          <p:cNvSpPr/>
          <p:nvPr/>
        </p:nvSpPr>
        <p:spPr>
          <a:xfrm>
            <a:off x="5212080" y="1572768"/>
            <a:ext cx="2377440" cy="475488"/>
          </a:xfrm>
          <a:prstGeom prst="roundRect">
            <a:avLst>
              <a:gd fmla="val 13462" name="adj"/>
            </a:avLst>
          </a:prstGeom>
          <a:solidFill>
            <a:srgbClr val="0D2B4E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27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6"/>
          <p:cNvSpPr/>
          <p:nvPr/>
        </p:nvSpPr>
        <p:spPr>
          <a:xfrm>
            <a:off x="5212080" y="1572768"/>
            <a:ext cx="23774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ymmo.local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6"/>
          <p:cNvSpPr/>
          <p:nvPr/>
        </p:nvSpPr>
        <p:spPr>
          <a:xfrm>
            <a:off x="6373368" y="2048256"/>
            <a:ext cx="45720" cy="256032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6"/>
          <p:cNvSpPr/>
          <p:nvPr/>
        </p:nvSpPr>
        <p:spPr>
          <a:xfrm>
            <a:off x="5303520" y="2304288"/>
            <a:ext cx="2194560" cy="438912"/>
          </a:xfrm>
          <a:prstGeom prst="roundRect">
            <a:avLst>
              <a:gd fmla="val 14583" name="adj"/>
            </a:avLst>
          </a:prstGeom>
          <a:solidFill>
            <a:srgbClr val="0D2B4E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27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6"/>
          <p:cNvSpPr/>
          <p:nvPr/>
        </p:nvSpPr>
        <p:spPr>
          <a:xfrm>
            <a:off x="5303520" y="2304288"/>
            <a:ext cx="21945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OU : YMMO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6"/>
          <p:cNvSpPr/>
          <p:nvPr/>
        </p:nvSpPr>
        <p:spPr>
          <a:xfrm>
            <a:off x="4544568" y="2743200"/>
            <a:ext cx="45720" cy="22860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6"/>
          <p:cNvSpPr/>
          <p:nvPr/>
        </p:nvSpPr>
        <p:spPr>
          <a:xfrm>
            <a:off x="4114800" y="2971800"/>
            <a:ext cx="914400" cy="420624"/>
          </a:xfrm>
          <a:prstGeom prst="roundRect">
            <a:avLst>
              <a:gd fmla="val 13043" name="adj"/>
            </a:avLst>
          </a:prstGeom>
          <a:solidFill>
            <a:srgbClr val="0D2B4E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27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6"/>
          <p:cNvSpPr/>
          <p:nvPr/>
        </p:nvSpPr>
        <p:spPr>
          <a:xfrm>
            <a:off x="4114800" y="2971800"/>
            <a:ext cx="914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Direction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6"/>
          <p:cNvSpPr/>
          <p:nvPr/>
        </p:nvSpPr>
        <p:spPr>
          <a:xfrm>
            <a:off x="4114800" y="3456432"/>
            <a:ext cx="914400" cy="1325880"/>
          </a:xfrm>
          <a:prstGeom prst="roundRect">
            <a:avLst>
              <a:gd fmla="val 5000" name="adj"/>
            </a:avLst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6"/>
          <p:cNvSpPr/>
          <p:nvPr/>
        </p:nvSpPr>
        <p:spPr>
          <a:xfrm>
            <a:off x="4114800" y="3474720"/>
            <a:ext cx="9144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00"/>
              <a:buFont typeface="Calibri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👥 GRP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00"/>
              <a:buFont typeface="Calibri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j.dupont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00"/>
              <a:buFont typeface="Calibri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m.martin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6"/>
          <p:cNvSpPr/>
          <p:nvPr/>
        </p:nvSpPr>
        <p:spPr>
          <a:xfrm>
            <a:off x="5495544" y="2743200"/>
            <a:ext cx="45720" cy="228600"/>
          </a:xfrm>
          <a:prstGeom prst="rect">
            <a:avLst/>
          </a:prstGeom>
          <a:solidFill>
            <a:srgbClr val="3B9F8F"/>
          </a:solidFill>
          <a:ln cap="flat" cmpd="sng" w="12700">
            <a:solidFill>
              <a:srgbClr val="3B9F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6"/>
          <p:cNvSpPr/>
          <p:nvPr/>
        </p:nvSpPr>
        <p:spPr>
          <a:xfrm>
            <a:off x="5065776" y="2971800"/>
            <a:ext cx="914400" cy="420624"/>
          </a:xfrm>
          <a:prstGeom prst="roundRect">
            <a:avLst>
              <a:gd fmla="val 13043" name="adj"/>
            </a:avLst>
          </a:prstGeom>
          <a:solidFill>
            <a:srgbClr val="0D2B4E"/>
          </a:solidFill>
          <a:ln cap="flat" cmpd="sng" w="12700">
            <a:solidFill>
              <a:srgbClr val="3B9F8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27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6"/>
          <p:cNvSpPr/>
          <p:nvPr/>
        </p:nvSpPr>
        <p:spPr>
          <a:xfrm>
            <a:off x="5065776" y="2971800"/>
            <a:ext cx="914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9F8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B9F8F"/>
                </a:solidFill>
                <a:latin typeface="Calibri"/>
                <a:ea typeface="Calibri"/>
                <a:cs typeface="Calibri"/>
                <a:sym typeface="Calibri"/>
              </a:rPr>
              <a:t>Commercial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6"/>
          <p:cNvSpPr/>
          <p:nvPr/>
        </p:nvSpPr>
        <p:spPr>
          <a:xfrm>
            <a:off x="5065776" y="3456432"/>
            <a:ext cx="914400" cy="1325880"/>
          </a:xfrm>
          <a:prstGeom prst="roundRect">
            <a:avLst>
              <a:gd fmla="val 5000" name="adj"/>
            </a:avLst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6"/>
          <p:cNvSpPr/>
          <p:nvPr/>
        </p:nvSpPr>
        <p:spPr>
          <a:xfrm>
            <a:off x="5065776" y="3474720"/>
            <a:ext cx="9144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00"/>
              <a:buFont typeface="Calibri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👥 GRP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00"/>
              <a:buFont typeface="Calibri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p.bernard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00"/>
              <a:buFont typeface="Calibri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j.petit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6"/>
          <p:cNvSpPr/>
          <p:nvPr/>
        </p:nvSpPr>
        <p:spPr>
          <a:xfrm>
            <a:off x="6446520" y="2743200"/>
            <a:ext cx="45720" cy="22860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6"/>
          <p:cNvSpPr/>
          <p:nvPr/>
        </p:nvSpPr>
        <p:spPr>
          <a:xfrm>
            <a:off x="6016752" y="2971800"/>
            <a:ext cx="914400" cy="420624"/>
          </a:xfrm>
          <a:prstGeom prst="roundRect">
            <a:avLst>
              <a:gd fmla="val 13043" name="adj"/>
            </a:avLst>
          </a:prstGeom>
          <a:solidFill>
            <a:srgbClr val="0D2B4E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27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6"/>
          <p:cNvSpPr/>
          <p:nvPr/>
        </p:nvSpPr>
        <p:spPr>
          <a:xfrm>
            <a:off x="6016752" y="2971800"/>
            <a:ext cx="914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Com-Mkt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6"/>
          <p:cNvSpPr/>
          <p:nvPr/>
        </p:nvSpPr>
        <p:spPr>
          <a:xfrm>
            <a:off x="6016752" y="3456432"/>
            <a:ext cx="914400" cy="1325880"/>
          </a:xfrm>
          <a:prstGeom prst="roundRect">
            <a:avLst>
              <a:gd fmla="val 5000" name="adj"/>
            </a:avLst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6"/>
          <p:cNvSpPr/>
          <p:nvPr/>
        </p:nvSpPr>
        <p:spPr>
          <a:xfrm>
            <a:off x="6016752" y="3474720"/>
            <a:ext cx="9144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00"/>
              <a:buFont typeface="Calibri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👥 GRP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00"/>
              <a:buFont typeface="Calibri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l.moreau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00"/>
              <a:buFont typeface="Calibri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e.laurent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6"/>
          <p:cNvSpPr/>
          <p:nvPr/>
        </p:nvSpPr>
        <p:spPr>
          <a:xfrm>
            <a:off x="7397496" y="2743200"/>
            <a:ext cx="45720" cy="2286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6"/>
          <p:cNvSpPr/>
          <p:nvPr/>
        </p:nvSpPr>
        <p:spPr>
          <a:xfrm>
            <a:off x="6967728" y="2971800"/>
            <a:ext cx="914400" cy="420624"/>
          </a:xfrm>
          <a:prstGeom prst="roundRect">
            <a:avLst>
              <a:gd fmla="val 13043" name="adj"/>
            </a:avLst>
          </a:prstGeom>
          <a:solidFill>
            <a:srgbClr val="0D2B4E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27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6"/>
          <p:cNvSpPr/>
          <p:nvPr/>
        </p:nvSpPr>
        <p:spPr>
          <a:xfrm>
            <a:off x="6967728" y="2971800"/>
            <a:ext cx="914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Admin-RH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6"/>
          <p:cNvSpPr/>
          <p:nvPr/>
        </p:nvSpPr>
        <p:spPr>
          <a:xfrm>
            <a:off x="6967728" y="3456432"/>
            <a:ext cx="914400" cy="1325880"/>
          </a:xfrm>
          <a:prstGeom prst="roundRect">
            <a:avLst>
              <a:gd fmla="val 5000" name="adj"/>
            </a:avLst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6"/>
          <p:cNvSpPr/>
          <p:nvPr/>
        </p:nvSpPr>
        <p:spPr>
          <a:xfrm>
            <a:off x="6967728" y="3474720"/>
            <a:ext cx="9144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00"/>
              <a:buFont typeface="Calibri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👥 GRP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00"/>
              <a:buFont typeface="Calibri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t.simon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00"/>
              <a:buFont typeface="Calibri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c.michel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6"/>
          <p:cNvSpPr/>
          <p:nvPr/>
        </p:nvSpPr>
        <p:spPr>
          <a:xfrm>
            <a:off x="8348472" y="2743200"/>
            <a:ext cx="45720" cy="22860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6"/>
          <p:cNvSpPr/>
          <p:nvPr/>
        </p:nvSpPr>
        <p:spPr>
          <a:xfrm>
            <a:off x="7918704" y="2971800"/>
            <a:ext cx="914400" cy="420624"/>
          </a:xfrm>
          <a:prstGeom prst="roundRect">
            <a:avLst>
              <a:gd fmla="val 13043" name="adj"/>
            </a:avLst>
          </a:prstGeom>
          <a:solidFill>
            <a:srgbClr val="0D2B4E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27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6"/>
          <p:cNvSpPr/>
          <p:nvPr/>
        </p:nvSpPr>
        <p:spPr>
          <a:xfrm>
            <a:off x="7918704" y="2971800"/>
            <a:ext cx="914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IT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6"/>
          <p:cNvSpPr/>
          <p:nvPr/>
        </p:nvSpPr>
        <p:spPr>
          <a:xfrm>
            <a:off x="7918704" y="3456432"/>
            <a:ext cx="914400" cy="1325880"/>
          </a:xfrm>
          <a:prstGeom prst="roundRect">
            <a:avLst>
              <a:gd fmla="val 5000" name="adj"/>
            </a:avLst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6"/>
          <p:cNvSpPr/>
          <p:nvPr/>
        </p:nvSpPr>
        <p:spPr>
          <a:xfrm>
            <a:off x="7918704" y="3474720"/>
            <a:ext cx="9144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00"/>
              <a:buFont typeface="Calibri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👥 GRP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00"/>
              <a:buFont typeface="Calibri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a.leroy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00"/>
              <a:buFont typeface="Calibri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s.roux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7"/>
          <p:cNvSpPr/>
          <p:nvPr/>
        </p:nvSpPr>
        <p:spPr>
          <a:xfrm>
            <a:off x="365760" y="320040"/>
            <a:ext cx="54864" cy="59436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7"/>
          <p:cNvSpPr/>
          <p:nvPr/>
        </p:nvSpPr>
        <p:spPr>
          <a:xfrm>
            <a:off x="548640" y="27432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DOSSIERS PARTAGÉS, NTFS &amp; DROITS D'ACCÈS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7"/>
          <p:cNvSpPr/>
          <p:nvPr/>
        </p:nvSpPr>
        <p:spPr>
          <a:xfrm>
            <a:off x="365760" y="4983480"/>
            <a:ext cx="8412480" cy="27432"/>
          </a:xfrm>
          <a:prstGeom prst="rect">
            <a:avLst/>
          </a:prstGeom>
          <a:solidFill>
            <a:srgbClr val="1C2130"/>
          </a:solidFill>
          <a:ln cap="flat" cmpd="sng" w="12700">
            <a:solidFill>
              <a:srgbClr val="1C21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59" name="Google Shape;359;p17"/>
          <p:cNvGraphicFramePr/>
          <p:nvPr/>
        </p:nvGraphicFramePr>
        <p:xfrm>
          <a:off x="274320" y="10058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{ECF4556E-8122-4D61-A7E3-15574F46C08D}</a:tableStyleId>
              </a:tblPr>
              <a:tblGrid>
                <a:gridCol w="1645925"/>
                <a:gridCol w="1389900"/>
                <a:gridCol w="1389900"/>
                <a:gridCol w="1389900"/>
                <a:gridCol w="1389900"/>
                <a:gridCol w="1389900"/>
              </a:tblGrid>
              <a:tr h="403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82F6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B82F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Pôle \ Dossier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82F6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B82F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Direction$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82F6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B82F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Commercial$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82F6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B82F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Com-Mkt$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82F6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B82F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Admin-RH$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82F6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B82F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IT-Support$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4E"/>
                    </a:solidFill>
                  </a:tcPr>
                </a:tc>
              </a:tr>
              <a:tr h="403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Direction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B95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L/E ✅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1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 ✅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1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 ✅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1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 ✅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1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 ✅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130"/>
                    </a:solidFill>
                  </a:tcPr>
                </a:tc>
              </a:tr>
              <a:tr h="403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Commercial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5149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🚫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B95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L/E ✅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1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 ✅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1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5149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🚫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5149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🚫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0D0D"/>
                    </a:solidFill>
                  </a:tcPr>
                </a:tc>
              </a:tr>
              <a:tr h="403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Com-Mkt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5149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🚫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 ✅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1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B95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L/E ✅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1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5149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🚫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5149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🚫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0D0D"/>
                    </a:solidFill>
                  </a:tcPr>
                </a:tc>
              </a:tr>
              <a:tr h="403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Admin-RH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5149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🚫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 ✅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1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 ✅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1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B95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L/E ✅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1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5149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🚫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0D0D"/>
                    </a:solidFill>
                  </a:tcPr>
                </a:tc>
              </a:tr>
              <a:tr h="403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IT-Support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5149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🚫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 ✅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1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 ✅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1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5149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🚫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B95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L/E ✅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0363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2B1E"/>
                    </a:solidFill>
                  </a:tcPr>
                </a:tc>
              </a:tr>
            </a:tbl>
          </a:graphicData>
        </a:graphic>
      </p:graphicFrame>
      <p:sp>
        <p:nvSpPr>
          <p:cNvPr id="360" name="Google Shape;360;p17"/>
          <p:cNvSpPr/>
          <p:nvPr/>
        </p:nvSpPr>
        <p:spPr>
          <a:xfrm>
            <a:off x="457200" y="3639312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🔒 </a:t>
            </a:r>
            <a:r>
              <a:rPr b="1" i="0" lang="en-US" sz="14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Permissions NTFS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7"/>
          <p:cNvSpPr/>
          <p:nvPr/>
        </p:nvSpPr>
        <p:spPr>
          <a:xfrm>
            <a:off x="457200" y="4041648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Full Control → propriétaire du dossier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Read &amp; Execute → lecture seule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Deny → interdit (prioritaire sur Allow)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Le $ masque le partage sur le réseau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7"/>
          <p:cNvSpPr/>
          <p:nvPr/>
        </p:nvSpPr>
        <p:spPr>
          <a:xfrm>
            <a:off x="4754880" y="3639312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📁 Permissions Partage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7"/>
          <p:cNvSpPr/>
          <p:nvPr/>
        </p:nvSpPr>
        <p:spPr>
          <a:xfrm>
            <a:off x="4754880" y="4041648"/>
            <a:ext cx="3931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Full Control → propriétaire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Read → lecture via réseau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No Access (vide) → interdit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Chemin physique : C:\Partages\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8"/>
          <p:cNvSpPr/>
          <p:nvPr/>
        </p:nvSpPr>
        <p:spPr>
          <a:xfrm>
            <a:off x="365760" y="320040"/>
            <a:ext cx="54864" cy="59436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8"/>
          <p:cNvSpPr/>
          <p:nvPr/>
        </p:nvSpPr>
        <p:spPr>
          <a:xfrm>
            <a:off x="548640" y="27432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DHCP, DNS &amp; STRATÉGIES DE GROUPE (GPO)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8"/>
          <p:cNvSpPr/>
          <p:nvPr/>
        </p:nvSpPr>
        <p:spPr>
          <a:xfrm>
            <a:off x="365760" y="4983480"/>
            <a:ext cx="8412480" cy="27432"/>
          </a:xfrm>
          <a:prstGeom prst="rect">
            <a:avLst/>
          </a:prstGeom>
          <a:solidFill>
            <a:srgbClr val="1C2130"/>
          </a:solidFill>
          <a:ln cap="flat" cmpd="sng" w="12700">
            <a:solidFill>
              <a:srgbClr val="1C21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8"/>
          <p:cNvSpPr/>
          <p:nvPr/>
        </p:nvSpPr>
        <p:spPr>
          <a:xfrm>
            <a:off x="411480" y="1115568"/>
            <a:ext cx="2377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500"/>
              <a:buFont typeface="Calibri"/>
              <a:buNone/>
            </a:pPr>
            <a:r>
              <a:rPr b="1" i="0" lang="en-US" sz="21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DHCP</a:t>
            </a:r>
            <a:endParaRPr b="0" i="0" sz="2100" u="none" cap="none" strike="noStrik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8"/>
          <p:cNvSpPr/>
          <p:nvPr/>
        </p:nvSpPr>
        <p:spPr>
          <a:xfrm>
            <a:off x="411480" y="1572768"/>
            <a:ext cx="23775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50"/>
              <a:buFont typeface="Calibri"/>
              <a:buNone/>
            </a:pPr>
            <a:r>
              <a:rPr b="0" i="0" lang="en-US" sz="16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Scope : Scope-Ymmo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50"/>
              <a:buFont typeface="Calibri"/>
              <a:buNone/>
            </a:pPr>
            <a:r>
              <a:rPr b="0" i="0" lang="en-US" sz="16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Début : 10.0.0.50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50"/>
              <a:buFont typeface="Calibri"/>
              <a:buNone/>
            </a:pPr>
            <a:r>
              <a:rPr b="0" i="0" lang="en-US" sz="16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 : 10.0.0.200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50"/>
              <a:buFont typeface="Calibri"/>
              <a:buNone/>
            </a:pPr>
            <a:r>
              <a:rPr b="0" i="0" lang="en-US" sz="16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Masque : 255.255.255.0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50"/>
              <a:buFont typeface="Calibri"/>
              <a:buNone/>
            </a:pPr>
            <a:r>
              <a:rPr b="0" i="0" lang="en-US" sz="16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Gateway : 10.0.0.1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50"/>
              <a:buFont typeface="Calibri"/>
              <a:buNone/>
            </a:pPr>
            <a:r>
              <a:rPr b="0" i="0" lang="en-US" sz="16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DNS : 10.0.0.10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50"/>
              <a:buFont typeface="Calibri"/>
              <a:buNone/>
            </a:pPr>
            <a:r>
              <a:rPr b="0" i="0" lang="en-US" sz="16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0-49 réservé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50"/>
              <a:buFont typeface="Calibri"/>
              <a:buNone/>
            </a:pPr>
            <a:r>
              <a:rPr b="0" i="0" lang="en-US" sz="16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serveurs &amp; imprimantes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8"/>
          <p:cNvSpPr/>
          <p:nvPr/>
        </p:nvSpPr>
        <p:spPr>
          <a:xfrm>
            <a:off x="3383280" y="1115568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500"/>
              <a:buFont typeface="Calibri"/>
              <a:buNone/>
            </a:pPr>
            <a:r>
              <a:rPr b="1" i="0" lang="en-US" sz="21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DNS</a:t>
            </a:r>
            <a:endParaRPr b="0" i="0" sz="2100" u="none" cap="none" strike="noStrik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8"/>
          <p:cNvSpPr/>
          <p:nvPr/>
        </p:nvSpPr>
        <p:spPr>
          <a:xfrm>
            <a:off x="3383280" y="1572768"/>
            <a:ext cx="23775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50"/>
              <a:buFont typeface="Calibri"/>
              <a:buNone/>
            </a:pPr>
            <a:r>
              <a:rPr b="0" i="0" lang="en-US" sz="16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Zone : ymmo.local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50"/>
              <a:buFont typeface="Calibri"/>
              <a:buNone/>
            </a:pPr>
            <a:r>
              <a:rPr b="0" i="0" lang="en-US" sz="16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SRV-YMMO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50"/>
              <a:buFont typeface="Calibri"/>
              <a:buNone/>
            </a:pPr>
            <a:r>
              <a:rPr b="0" i="0" lang="en-US" sz="16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 10.0.0.10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50"/>
              <a:buFont typeface="Calibri"/>
              <a:buNone/>
            </a:pPr>
            <a:r>
              <a:rPr b="0" i="0" lang="en-US" sz="16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CLIENT-YMMO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50"/>
              <a:buFont typeface="Calibri"/>
              <a:buNone/>
            </a:pPr>
            <a:r>
              <a:rPr b="0" i="0" lang="en-US" sz="16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 10.0.0.20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50"/>
              <a:buFont typeface="Calibri"/>
              <a:buNone/>
            </a:pPr>
            <a:r>
              <a:rPr b="0" i="0" lang="en-US" sz="16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nslookup ymmo.local ✅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50"/>
              <a:buFont typeface="Calibri"/>
              <a:buNone/>
            </a:pPr>
            <a:r>
              <a:rPr b="0" i="0" lang="en-US" sz="16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nslookup SRV-YMMO ✅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50"/>
              <a:buFont typeface="Calibri"/>
              <a:buNone/>
            </a:pPr>
            <a:r>
              <a:rPr b="0" i="0" lang="en-US" sz="16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ping SRV-YMMO ✅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8"/>
          <p:cNvSpPr/>
          <p:nvPr/>
        </p:nvSpPr>
        <p:spPr>
          <a:xfrm>
            <a:off x="6355080" y="1115568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500"/>
              <a:buFont typeface="Calibri"/>
              <a:buNone/>
            </a:pPr>
            <a:r>
              <a:rPr b="1" i="0" lang="en-US" sz="20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GPO</a:t>
            </a:r>
            <a:endParaRPr b="0" i="0" sz="2000" u="none" cap="none" strike="noStrik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8"/>
          <p:cNvSpPr/>
          <p:nvPr/>
        </p:nvSpPr>
        <p:spPr>
          <a:xfrm>
            <a:off x="6355080" y="1572768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Mappage lecteurs 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8"/>
          <p:cNvSpPr/>
          <p:nvPr/>
        </p:nvSpPr>
        <p:spPr>
          <a:xfrm>
            <a:off x="6355075" y="1902000"/>
            <a:ext cx="2238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50"/>
              <a:buFont typeface="Calibri"/>
              <a:buNone/>
            </a:pPr>
            <a:r>
              <a:rPr b="0" i="0" lang="en-US" sz="14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D: → \SRV\Direction$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8"/>
          <p:cNvSpPr/>
          <p:nvPr/>
        </p:nvSpPr>
        <p:spPr>
          <a:xfrm>
            <a:off x="6355175" y="2340900"/>
            <a:ext cx="2377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50"/>
              <a:buFont typeface="Calibri"/>
              <a:buNone/>
            </a:pPr>
            <a:r>
              <a:rPr b="0" i="0" lang="en-US" sz="14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E: → \SRV\Commercial$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8"/>
          <p:cNvSpPr/>
          <p:nvPr/>
        </p:nvSpPr>
        <p:spPr>
          <a:xfrm>
            <a:off x="6355175" y="2683800"/>
            <a:ext cx="2562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50"/>
              <a:buFont typeface="Calibri"/>
              <a:buNone/>
            </a:pPr>
            <a:r>
              <a:rPr b="0" i="0" lang="en-US" sz="14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F: → \SRV\Com-Mkt$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8"/>
          <p:cNvSpPr/>
          <p:nvPr/>
        </p:nvSpPr>
        <p:spPr>
          <a:xfrm>
            <a:off x="6355080" y="3149102"/>
            <a:ext cx="2377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50"/>
              <a:buFont typeface="Calibri"/>
              <a:buNone/>
            </a:pPr>
            <a:r>
              <a:rPr b="0" i="0" lang="en-US" sz="14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G: → \SRV\Admin-RH$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8"/>
          <p:cNvSpPr/>
          <p:nvPr/>
        </p:nvSpPr>
        <p:spPr>
          <a:xfrm>
            <a:off x="6355080" y="3700527"/>
            <a:ext cx="2377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50"/>
              <a:buFont typeface="Calibri"/>
              <a:buNone/>
            </a:pPr>
            <a:r>
              <a:rPr b="0" i="0" lang="en-US" sz="14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H: → \SRV\IT-Support$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8"/>
          <p:cNvSpPr/>
          <p:nvPr/>
        </p:nvSpPr>
        <p:spPr>
          <a:xfrm>
            <a:off x="6355080" y="4251960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1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⚠️ En prod : nom DNS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1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plutôt que l'IP !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9"/>
          <p:cNvSpPr/>
          <p:nvPr/>
        </p:nvSpPr>
        <p:spPr>
          <a:xfrm>
            <a:off x="365760" y="320040"/>
            <a:ext cx="54864" cy="59436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90" name="Google Shape;390;p19"/>
          <p:cNvSpPr/>
          <p:nvPr/>
        </p:nvSpPr>
        <p:spPr>
          <a:xfrm>
            <a:off x="548640" y="27432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POLITIQUE DE SÉCURITÉ &amp; FIREWALL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9"/>
          <p:cNvSpPr/>
          <p:nvPr/>
        </p:nvSpPr>
        <p:spPr>
          <a:xfrm>
            <a:off x="365760" y="4983480"/>
            <a:ext cx="8412480" cy="27432"/>
          </a:xfrm>
          <a:prstGeom prst="rect">
            <a:avLst/>
          </a:prstGeom>
          <a:solidFill>
            <a:srgbClr val="1C2130"/>
          </a:solidFill>
          <a:ln cap="flat" cmpd="sng" w="12700">
            <a:solidFill>
              <a:srgbClr val="1C21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92" name="Google Shape;392;p19"/>
          <p:cNvSpPr/>
          <p:nvPr/>
        </p:nvSpPr>
        <p:spPr>
          <a:xfrm>
            <a:off x="274320" y="1005840"/>
            <a:ext cx="4114800" cy="3931920"/>
          </a:xfrm>
          <a:prstGeom prst="roundRect">
            <a:avLst>
              <a:gd fmla="val 2791" name="adj"/>
            </a:avLst>
          </a:prstGeom>
          <a:solidFill>
            <a:srgbClr val="1C2130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27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93" name="Google Shape;393;p19"/>
          <p:cNvSpPr/>
          <p:nvPr/>
        </p:nvSpPr>
        <p:spPr>
          <a:xfrm>
            <a:off x="457200" y="1115568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Firewall &amp; Architecture sécurisée</a:t>
            </a:r>
            <a:endParaRPr b="0" i="0" sz="14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9"/>
          <p:cNvSpPr/>
          <p:nvPr/>
        </p:nvSpPr>
        <p:spPr>
          <a:xfrm>
            <a:off x="457200" y="155448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Pare-feu Windows (GPO) :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9"/>
          <p:cNvSpPr/>
          <p:nvPr/>
        </p:nvSpPr>
        <p:spPr>
          <a:xfrm>
            <a:off x="548640" y="182880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Activé : Domain / Private / Public</a:t>
            </a:r>
            <a:endParaRPr b="0" i="0" sz="10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9"/>
          <p:cNvSpPr/>
          <p:nvPr/>
        </p:nvSpPr>
        <p:spPr>
          <a:xfrm>
            <a:off x="548640" y="2084832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Connexions entrantes : BLOCK</a:t>
            </a:r>
            <a:endParaRPr b="0" i="0" sz="10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9"/>
          <p:cNvSpPr/>
          <p:nvPr/>
        </p:nvSpPr>
        <p:spPr>
          <a:xfrm>
            <a:off x="548640" y="234086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Connexions sortantes : ALLOW</a:t>
            </a:r>
            <a:endParaRPr b="0" i="0" sz="10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9"/>
          <p:cNvSpPr/>
          <p:nvPr/>
        </p:nvSpPr>
        <p:spPr>
          <a:xfrm>
            <a:off x="457200" y="270662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Firewall physique :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9"/>
          <p:cNvSpPr/>
          <p:nvPr/>
        </p:nvSpPr>
        <p:spPr>
          <a:xfrm>
            <a:off x="548640" y="298094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Routeur/Firewall à chaque site</a:t>
            </a:r>
            <a:endParaRPr b="0" i="0" sz="10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9"/>
          <p:cNvSpPr/>
          <p:nvPr/>
        </p:nvSpPr>
        <p:spPr>
          <a:xfrm>
            <a:off x="548640" y="3236976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Filtrage trafic entrant/sortant</a:t>
            </a:r>
            <a:endParaRPr b="0" i="0" sz="10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9"/>
          <p:cNvSpPr/>
          <p:nvPr/>
        </p:nvSpPr>
        <p:spPr>
          <a:xfrm>
            <a:off x="548640" y="3493008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NAT pour les agences</a:t>
            </a:r>
            <a:endParaRPr b="0" i="0" sz="10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9"/>
          <p:cNvSpPr/>
          <p:nvPr/>
        </p:nvSpPr>
        <p:spPr>
          <a:xfrm>
            <a:off x="548640" y="374904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Seul VPN/IPSec autorisé inter-sites</a:t>
            </a:r>
            <a:endParaRPr b="0" i="0" sz="10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9"/>
          <p:cNvSpPr/>
          <p:nvPr/>
        </p:nvSpPr>
        <p:spPr>
          <a:xfrm>
            <a:off x="457200" y="411480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VPN/IPSec :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9"/>
          <p:cNvSpPr/>
          <p:nvPr/>
        </p:nvSpPr>
        <p:spPr>
          <a:xfrm>
            <a:off x="548640" y="438912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Chiffrement trafic inter-sites</a:t>
            </a:r>
            <a:endParaRPr b="0" i="0" sz="10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9"/>
          <p:cNvSpPr/>
          <p:nvPr/>
        </p:nvSpPr>
        <p:spPr>
          <a:xfrm>
            <a:off x="548640" y="4645152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Tunnel siège ↔ 12 agences</a:t>
            </a:r>
            <a:endParaRPr b="0" i="0" sz="10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9"/>
          <p:cNvSpPr/>
          <p:nvPr/>
        </p:nvSpPr>
        <p:spPr>
          <a:xfrm>
            <a:off x="548640" y="490118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Accès ressources siège en local</a:t>
            </a:r>
            <a:endParaRPr b="0" i="0" sz="10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9"/>
          <p:cNvSpPr/>
          <p:nvPr/>
        </p:nvSpPr>
        <p:spPr>
          <a:xfrm>
            <a:off x="4663440" y="1005840"/>
            <a:ext cx="4114800" cy="3931920"/>
          </a:xfrm>
          <a:prstGeom prst="roundRect">
            <a:avLst>
              <a:gd fmla="val 2791" name="adj"/>
            </a:avLst>
          </a:prstGeom>
          <a:solidFill>
            <a:srgbClr val="1C2130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27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08" name="Google Shape;408;p19"/>
          <p:cNvSpPr/>
          <p:nvPr/>
        </p:nvSpPr>
        <p:spPr>
          <a:xfrm>
            <a:off x="4846320" y="1115568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GPO-Securite (domaine entier)</a:t>
            </a:r>
            <a:endParaRPr b="0" i="0" sz="14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9"/>
          <p:cNvSpPr/>
          <p:nvPr/>
        </p:nvSpPr>
        <p:spPr>
          <a:xfrm>
            <a:off x="4846320" y="155448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Mots de passe :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9"/>
          <p:cNvSpPr/>
          <p:nvPr/>
        </p:nvSpPr>
        <p:spPr>
          <a:xfrm>
            <a:off x="4937760" y="182880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8 caractères min. + complexité</a:t>
            </a:r>
            <a:endParaRPr b="0" i="0" sz="10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9"/>
          <p:cNvSpPr/>
          <p:nvPr/>
        </p:nvSpPr>
        <p:spPr>
          <a:xfrm>
            <a:off x="4937760" y="2084832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Expiration : 90 jours</a:t>
            </a:r>
            <a:endParaRPr b="0" i="0" sz="10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9"/>
          <p:cNvSpPr/>
          <p:nvPr/>
        </p:nvSpPr>
        <p:spPr>
          <a:xfrm>
            <a:off x="4937760" y="234086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Historique : 5 mots de passe</a:t>
            </a:r>
            <a:endParaRPr b="0" i="0" sz="10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9"/>
          <p:cNvSpPr/>
          <p:nvPr/>
        </p:nvSpPr>
        <p:spPr>
          <a:xfrm>
            <a:off x="4937760" y="2596896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Âge minimum : 1 jour</a:t>
            </a:r>
            <a:endParaRPr b="0" i="0" sz="10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9"/>
          <p:cNvSpPr/>
          <p:nvPr/>
        </p:nvSpPr>
        <p:spPr>
          <a:xfrm>
            <a:off x="4846320" y="2962656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Verrouillage :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9"/>
          <p:cNvSpPr/>
          <p:nvPr/>
        </p:nvSpPr>
        <p:spPr>
          <a:xfrm>
            <a:off x="4937760" y="3236976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Blocage après 5 tentatives</a:t>
            </a:r>
            <a:endParaRPr b="0" i="0" sz="10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9"/>
          <p:cNvSpPr/>
          <p:nvPr/>
        </p:nvSpPr>
        <p:spPr>
          <a:xfrm>
            <a:off x="4937760" y="3493008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Durée : 30 minutes</a:t>
            </a:r>
            <a:endParaRPr b="0" i="0" sz="10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9"/>
          <p:cNvSpPr/>
          <p:nvPr/>
        </p:nvSpPr>
        <p:spPr>
          <a:xfrm>
            <a:off x="4937760" y="374904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Reset compteur : 15 minutes</a:t>
            </a:r>
            <a:endParaRPr b="0" i="0" sz="10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9"/>
          <p:cNvSpPr/>
          <p:nvPr/>
        </p:nvSpPr>
        <p:spPr>
          <a:xfrm>
            <a:off x="4846320" y="411480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Pare-feu :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9"/>
          <p:cNvSpPr/>
          <p:nvPr/>
        </p:nvSpPr>
        <p:spPr>
          <a:xfrm>
            <a:off x="4937760" y="438912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Tous profils activés</a:t>
            </a:r>
            <a:endParaRPr b="0" i="0" sz="10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9"/>
          <p:cNvSpPr/>
          <p:nvPr/>
        </p:nvSpPr>
        <p:spPr>
          <a:xfrm>
            <a:off x="4937760" y="4645152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Entrantes bloquées / Sortantes OK</a:t>
            </a:r>
            <a:endParaRPr b="0" i="0" sz="10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0"/>
          <p:cNvSpPr/>
          <p:nvPr/>
        </p:nvSpPr>
        <p:spPr>
          <a:xfrm>
            <a:off x="365760" y="320040"/>
            <a:ext cx="54864" cy="59436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27" name="Google Shape;427;p20"/>
          <p:cNvSpPr/>
          <p:nvPr/>
        </p:nvSpPr>
        <p:spPr>
          <a:xfrm>
            <a:off x="548640" y="27432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TESTS DE VALIDATION &amp; PROBLÈMES RENCONTRÉS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0"/>
          <p:cNvSpPr/>
          <p:nvPr/>
        </p:nvSpPr>
        <p:spPr>
          <a:xfrm>
            <a:off x="365760" y="4983480"/>
            <a:ext cx="8412480" cy="27432"/>
          </a:xfrm>
          <a:prstGeom prst="rect">
            <a:avLst/>
          </a:prstGeom>
          <a:solidFill>
            <a:srgbClr val="1C2130"/>
          </a:solidFill>
          <a:ln cap="flat" cmpd="sng" w="12700">
            <a:solidFill>
              <a:srgbClr val="1C21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29" name="Google Shape;429;p20"/>
          <p:cNvSpPr/>
          <p:nvPr/>
        </p:nvSpPr>
        <p:spPr>
          <a:xfrm>
            <a:off x="3474720" y="2761488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0"/>
          <p:cNvSpPr/>
          <p:nvPr/>
        </p:nvSpPr>
        <p:spPr>
          <a:xfrm>
            <a:off x="3474720" y="3968496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0"/>
          <p:cNvSpPr/>
          <p:nvPr/>
        </p:nvSpPr>
        <p:spPr>
          <a:xfrm>
            <a:off x="3474720" y="4370832"/>
            <a:ext cx="1737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0"/>
          <p:cNvSpPr/>
          <p:nvPr/>
        </p:nvSpPr>
        <p:spPr>
          <a:xfrm>
            <a:off x="6378850" y="1005850"/>
            <a:ext cx="2490900" cy="3931800"/>
          </a:xfrm>
          <a:prstGeom prst="roundRect">
            <a:avLst>
              <a:gd fmla="val 3429" name="adj"/>
            </a:avLst>
          </a:prstGeom>
          <a:solidFill>
            <a:srgbClr val="1C2130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27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33" name="Google Shape;433;p20"/>
          <p:cNvSpPr/>
          <p:nvPr/>
        </p:nvSpPr>
        <p:spPr>
          <a:xfrm>
            <a:off x="6379025" y="1115575"/>
            <a:ext cx="2307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Problèmes &amp; Solutions</a:t>
            </a:r>
            <a:endParaRPr b="0" i="0" sz="14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0"/>
          <p:cNvSpPr/>
          <p:nvPr/>
        </p:nvSpPr>
        <p:spPr>
          <a:xfrm>
            <a:off x="6378975" y="1572775"/>
            <a:ext cx="2399400" cy="731400"/>
          </a:xfrm>
          <a:prstGeom prst="roundRect">
            <a:avLst>
              <a:gd fmla="val 7500" name="adj"/>
            </a:avLst>
          </a:prstGeom>
          <a:solidFill>
            <a:srgbClr val="0D2B4E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35" name="Google Shape;435;p20"/>
          <p:cNvSpPr/>
          <p:nvPr/>
        </p:nvSpPr>
        <p:spPr>
          <a:xfrm>
            <a:off x="6378875" y="1591050"/>
            <a:ext cx="233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❌ Accès \\SRV-YMMO impossible</a:t>
            </a:r>
            <a:endParaRPr b="0" i="0" sz="9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0"/>
          <p:cNvSpPr/>
          <p:nvPr/>
        </p:nvSpPr>
        <p:spPr>
          <a:xfrm>
            <a:off x="6378875" y="1865375"/>
            <a:ext cx="2335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✅ → Utilisation de l'IP 10.0.0.10</a:t>
            </a:r>
            <a:endParaRPr b="0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0"/>
          <p:cNvSpPr/>
          <p:nvPr/>
        </p:nvSpPr>
        <p:spPr>
          <a:xfrm>
            <a:off x="6378873" y="2395725"/>
            <a:ext cx="2399400" cy="731400"/>
          </a:xfrm>
          <a:prstGeom prst="roundRect">
            <a:avLst>
              <a:gd fmla="val 7500" name="adj"/>
            </a:avLst>
          </a:prstGeom>
          <a:solidFill>
            <a:srgbClr val="0D2B4E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38" name="Google Shape;438;p20"/>
          <p:cNvSpPr/>
          <p:nvPr/>
        </p:nvSpPr>
        <p:spPr>
          <a:xfrm>
            <a:off x="6379025" y="2414025"/>
            <a:ext cx="233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❌ NTFS Deny mal configuré</a:t>
            </a:r>
            <a:endParaRPr b="0" i="0" sz="9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0"/>
          <p:cNvSpPr/>
          <p:nvPr/>
        </p:nvSpPr>
        <p:spPr>
          <a:xfrm>
            <a:off x="6378875" y="2688325"/>
            <a:ext cx="2335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✅ → Deny explicite Full Control</a:t>
            </a:r>
            <a:endParaRPr b="0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0"/>
          <p:cNvSpPr/>
          <p:nvPr/>
        </p:nvSpPr>
        <p:spPr>
          <a:xfrm>
            <a:off x="6378848" y="3218700"/>
            <a:ext cx="2399400" cy="731400"/>
          </a:xfrm>
          <a:prstGeom prst="roundRect">
            <a:avLst>
              <a:gd fmla="val 7500" name="adj"/>
            </a:avLst>
          </a:prstGeom>
          <a:solidFill>
            <a:srgbClr val="0D2B4E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41" name="Google Shape;441;p20"/>
          <p:cNvSpPr/>
          <p:nvPr/>
        </p:nvSpPr>
        <p:spPr>
          <a:xfrm>
            <a:off x="6379026" y="3236975"/>
            <a:ext cx="233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❌ VM corrompue (0xc000014c)</a:t>
            </a:r>
            <a:endParaRPr b="0" i="0" sz="9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0"/>
          <p:cNvSpPr/>
          <p:nvPr/>
        </p:nvSpPr>
        <p:spPr>
          <a:xfrm>
            <a:off x="6379026" y="3511300"/>
            <a:ext cx="2335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✅ → Disque plein 40GB → 60GB</a:t>
            </a:r>
            <a:endParaRPr b="0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0"/>
          <p:cNvSpPr/>
          <p:nvPr/>
        </p:nvSpPr>
        <p:spPr>
          <a:xfrm>
            <a:off x="6378848" y="4041650"/>
            <a:ext cx="2399400" cy="731400"/>
          </a:xfrm>
          <a:prstGeom prst="roundRect">
            <a:avLst>
              <a:gd fmla="val 7500" name="adj"/>
            </a:avLst>
          </a:prstGeom>
          <a:solidFill>
            <a:srgbClr val="0D2B4E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44" name="Google Shape;444;p20"/>
          <p:cNvSpPr/>
          <p:nvPr/>
        </p:nvSpPr>
        <p:spPr>
          <a:xfrm>
            <a:off x="6379026" y="4059925"/>
            <a:ext cx="233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❌ Server: Unknown DNS</a:t>
            </a:r>
            <a:endParaRPr b="0" i="0" sz="9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0"/>
          <p:cNvSpPr/>
          <p:nvPr/>
        </p:nvSpPr>
        <p:spPr>
          <a:xfrm>
            <a:off x="6378975" y="4334250"/>
            <a:ext cx="2335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✅ → Normal, DNS résout bien</a:t>
            </a:r>
            <a:endParaRPr b="0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6" name="Google Shape;44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150" y="1024900"/>
            <a:ext cx="6147975" cy="384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21"/>
          <p:cNvSpPr/>
          <p:nvPr/>
        </p:nvSpPr>
        <p:spPr>
          <a:xfrm>
            <a:off x="5943600" y="-1828800"/>
            <a:ext cx="5486400" cy="5486400"/>
          </a:xfrm>
          <a:prstGeom prst="ellipse">
            <a:avLst/>
          </a:prstGeom>
          <a:solidFill>
            <a:srgbClr val="0D1F3A">
              <a:alpha val="50199"/>
            </a:srgbClr>
          </a:solidFill>
          <a:ln cap="flat" cmpd="sng" w="12700">
            <a:solidFill>
              <a:srgbClr val="0D1F3A">
                <a:alpha val="501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53" name="Google Shape;453;p2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0D1F3A">
              <a:alpha val="40000"/>
            </a:srgbClr>
          </a:solidFill>
          <a:ln cap="flat" cmpd="sng" w="12700">
            <a:solidFill>
              <a:srgbClr val="0D1F3A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54" name="Google Shape;454;p21"/>
          <p:cNvSpPr/>
          <p:nvPr/>
        </p:nvSpPr>
        <p:spPr>
          <a:xfrm>
            <a:off x="365760" y="320040"/>
            <a:ext cx="54900" cy="59430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55" name="Google Shape;455;p21"/>
          <p:cNvSpPr/>
          <p:nvPr/>
        </p:nvSpPr>
        <p:spPr>
          <a:xfrm>
            <a:off x="548640" y="27432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Bilan Infra </a:t>
            </a:r>
            <a:r>
              <a:rPr b="1" i="0" lang="en-US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1"/>
          <p:cNvSpPr/>
          <p:nvPr/>
        </p:nvSpPr>
        <p:spPr>
          <a:xfrm>
            <a:off x="457200" y="2231136"/>
            <a:ext cx="3749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1"/>
          <p:cNvSpPr/>
          <p:nvPr/>
        </p:nvSpPr>
        <p:spPr>
          <a:xfrm>
            <a:off x="457200" y="3621024"/>
            <a:ext cx="3749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1"/>
          <p:cNvSpPr/>
          <p:nvPr/>
        </p:nvSpPr>
        <p:spPr>
          <a:xfrm>
            <a:off x="548525" y="4690750"/>
            <a:ext cx="3840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1"/>
          <p:cNvSpPr/>
          <p:nvPr/>
        </p:nvSpPr>
        <p:spPr>
          <a:xfrm>
            <a:off x="4663440" y="1005840"/>
            <a:ext cx="4206300" cy="4160400"/>
          </a:xfrm>
          <a:prstGeom prst="roundRect">
            <a:avLst>
              <a:gd fmla="val 2637" name="adj"/>
            </a:avLst>
          </a:prstGeom>
          <a:solidFill>
            <a:srgbClr val="1C2130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2700000" dist="38100">
              <a:srgbClr val="000000">
                <a:alpha val="301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60" name="Google Shape;460;p21"/>
          <p:cNvSpPr/>
          <p:nvPr/>
        </p:nvSpPr>
        <p:spPr>
          <a:xfrm>
            <a:off x="4846320" y="1115568"/>
            <a:ext cx="3840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Bilan INFRA</a:t>
            </a:r>
            <a:endParaRPr b="0" i="0" sz="13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1"/>
          <p:cNvSpPr/>
          <p:nvPr/>
        </p:nvSpPr>
        <p:spPr>
          <a:xfrm>
            <a:off x="4754880" y="1536192"/>
            <a:ext cx="3931800" cy="393300"/>
          </a:xfrm>
          <a:prstGeom prst="roundRect">
            <a:avLst>
              <a:gd fmla="val 13953" name="adj"/>
            </a:avLst>
          </a:prstGeom>
          <a:solidFill>
            <a:srgbClr val="0D2B4E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62" name="Google Shape;462;p21"/>
          <p:cNvSpPr/>
          <p:nvPr/>
        </p:nvSpPr>
        <p:spPr>
          <a:xfrm>
            <a:off x="4800600" y="1536192"/>
            <a:ext cx="3201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1"/>
          <p:cNvSpPr/>
          <p:nvPr/>
        </p:nvSpPr>
        <p:spPr>
          <a:xfrm>
            <a:off x="5138928" y="1536192"/>
            <a:ext cx="13716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Active Directory</a:t>
            </a:r>
            <a:endParaRPr b="0" i="0" sz="10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1"/>
          <p:cNvSpPr/>
          <p:nvPr/>
        </p:nvSpPr>
        <p:spPr>
          <a:xfrm>
            <a:off x="6528816" y="1536192"/>
            <a:ext cx="20118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ymmo.local — 5 OUs, 10 users, 5 groupes</a:t>
            </a:r>
            <a:endParaRPr b="0" i="0" sz="9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1"/>
          <p:cNvSpPr/>
          <p:nvPr/>
        </p:nvSpPr>
        <p:spPr>
          <a:xfrm>
            <a:off x="4754880" y="1993392"/>
            <a:ext cx="3931800" cy="393300"/>
          </a:xfrm>
          <a:prstGeom prst="roundRect">
            <a:avLst>
              <a:gd fmla="val 13953" name="adj"/>
            </a:avLst>
          </a:prstGeom>
          <a:solidFill>
            <a:srgbClr val="0D2B4E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66" name="Google Shape;466;p21"/>
          <p:cNvSpPr/>
          <p:nvPr/>
        </p:nvSpPr>
        <p:spPr>
          <a:xfrm>
            <a:off x="4800600" y="1993392"/>
            <a:ext cx="3201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1"/>
          <p:cNvSpPr/>
          <p:nvPr/>
        </p:nvSpPr>
        <p:spPr>
          <a:xfrm>
            <a:off x="5138928" y="1993392"/>
            <a:ext cx="13716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Droits d'accès</a:t>
            </a:r>
            <a:endParaRPr b="0" i="0" sz="10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1"/>
          <p:cNvSpPr/>
          <p:nvPr/>
        </p:nvSpPr>
        <p:spPr>
          <a:xfrm>
            <a:off x="6528816" y="1993392"/>
            <a:ext cx="20118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Matrice respectée — NTFS + partage $</a:t>
            </a:r>
            <a:endParaRPr b="0" i="0" sz="9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1"/>
          <p:cNvSpPr/>
          <p:nvPr/>
        </p:nvSpPr>
        <p:spPr>
          <a:xfrm>
            <a:off x="4754880" y="2450592"/>
            <a:ext cx="3931800" cy="393300"/>
          </a:xfrm>
          <a:prstGeom prst="roundRect">
            <a:avLst>
              <a:gd fmla="val 13953" name="adj"/>
            </a:avLst>
          </a:prstGeom>
          <a:solidFill>
            <a:srgbClr val="0D2B4E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70" name="Google Shape;470;p21"/>
          <p:cNvSpPr/>
          <p:nvPr/>
        </p:nvSpPr>
        <p:spPr>
          <a:xfrm>
            <a:off x="4800600" y="2450592"/>
            <a:ext cx="3201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1"/>
          <p:cNvSpPr/>
          <p:nvPr/>
        </p:nvSpPr>
        <p:spPr>
          <a:xfrm>
            <a:off x="5138928" y="2450592"/>
            <a:ext cx="13716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DHCP / DNS</a:t>
            </a:r>
            <a:endParaRPr b="0" i="0" sz="10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1"/>
          <p:cNvSpPr/>
          <p:nvPr/>
        </p:nvSpPr>
        <p:spPr>
          <a:xfrm>
            <a:off x="6528816" y="2450592"/>
            <a:ext cx="20118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IPs auto + résolution validée</a:t>
            </a:r>
            <a:endParaRPr b="0" i="0" sz="9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1"/>
          <p:cNvSpPr/>
          <p:nvPr/>
        </p:nvSpPr>
        <p:spPr>
          <a:xfrm>
            <a:off x="4754880" y="2907792"/>
            <a:ext cx="3931800" cy="393300"/>
          </a:xfrm>
          <a:prstGeom prst="roundRect">
            <a:avLst>
              <a:gd fmla="val 13953" name="adj"/>
            </a:avLst>
          </a:prstGeom>
          <a:solidFill>
            <a:srgbClr val="0D2B4E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74" name="Google Shape;474;p21"/>
          <p:cNvSpPr/>
          <p:nvPr/>
        </p:nvSpPr>
        <p:spPr>
          <a:xfrm>
            <a:off x="4800600" y="2907792"/>
            <a:ext cx="3201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1"/>
          <p:cNvSpPr/>
          <p:nvPr/>
        </p:nvSpPr>
        <p:spPr>
          <a:xfrm>
            <a:off x="5138928" y="2907792"/>
            <a:ext cx="13716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GPO</a:t>
            </a:r>
            <a:endParaRPr b="0" i="0" sz="10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1"/>
          <p:cNvSpPr/>
          <p:nvPr/>
        </p:nvSpPr>
        <p:spPr>
          <a:xfrm>
            <a:off x="6528816" y="2907792"/>
            <a:ext cx="20118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Lecteurs mappés + politique sécurité</a:t>
            </a:r>
            <a:endParaRPr b="0" i="0" sz="9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1"/>
          <p:cNvSpPr/>
          <p:nvPr/>
        </p:nvSpPr>
        <p:spPr>
          <a:xfrm>
            <a:off x="4754880" y="3364992"/>
            <a:ext cx="3931800" cy="393300"/>
          </a:xfrm>
          <a:prstGeom prst="roundRect">
            <a:avLst>
              <a:gd fmla="val 13953" name="adj"/>
            </a:avLst>
          </a:prstGeom>
          <a:solidFill>
            <a:srgbClr val="0D2B4E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78" name="Google Shape;478;p21"/>
          <p:cNvSpPr/>
          <p:nvPr/>
        </p:nvSpPr>
        <p:spPr>
          <a:xfrm>
            <a:off x="4800600" y="3364992"/>
            <a:ext cx="3201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1"/>
          <p:cNvSpPr/>
          <p:nvPr/>
        </p:nvSpPr>
        <p:spPr>
          <a:xfrm>
            <a:off x="5138928" y="3364992"/>
            <a:ext cx="13716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Firewall</a:t>
            </a:r>
            <a:endParaRPr b="0" i="0" sz="10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1"/>
          <p:cNvSpPr/>
          <p:nvPr/>
        </p:nvSpPr>
        <p:spPr>
          <a:xfrm>
            <a:off x="6528816" y="3364992"/>
            <a:ext cx="20118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GPO + routeurs physiques siège/agences</a:t>
            </a:r>
            <a:endParaRPr b="0" i="0" sz="9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1"/>
          <p:cNvSpPr/>
          <p:nvPr/>
        </p:nvSpPr>
        <p:spPr>
          <a:xfrm>
            <a:off x="4754880" y="3822192"/>
            <a:ext cx="3931800" cy="393300"/>
          </a:xfrm>
          <a:prstGeom prst="roundRect">
            <a:avLst>
              <a:gd fmla="val 13953" name="adj"/>
            </a:avLst>
          </a:prstGeom>
          <a:solidFill>
            <a:srgbClr val="0D2B4E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82" name="Google Shape;482;p21"/>
          <p:cNvSpPr/>
          <p:nvPr/>
        </p:nvSpPr>
        <p:spPr>
          <a:xfrm>
            <a:off x="4800600" y="3822192"/>
            <a:ext cx="3201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1"/>
          <p:cNvSpPr/>
          <p:nvPr/>
        </p:nvSpPr>
        <p:spPr>
          <a:xfrm>
            <a:off x="5138928" y="3822192"/>
            <a:ext cx="13716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VPN/IPSec</a:t>
            </a:r>
            <a:endParaRPr b="0" i="0" sz="10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1"/>
          <p:cNvSpPr/>
          <p:nvPr/>
        </p:nvSpPr>
        <p:spPr>
          <a:xfrm>
            <a:off x="6528816" y="3822192"/>
            <a:ext cx="20118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12 tunnels siège ↔ agences</a:t>
            </a:r>
            <a:endParaRPr b="0" i="0" sz="9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1"/>
          <p:cNvSpPr/>
          <p:nvPr/>
        </p:nvSpPr>
        <p:spPr>
          <a:xfrm>
            <a:off x="4754880" y="4279392"/>
            <a:ext cx="3931800" cy="393300"/>
          </a:xfrm>
          <a:prstGeom prst="roundRect">
            <a:avLst>
              <a:gd fmla="val 13953" name="adj"/>
            </a:avLst>
          </a:prstGeom>
          <a:solidFill>
            <a:srgbClr val="0D2B4E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86" name="Google Shape;486;p21"/>
          <p:cNvSpPr/>
          <p:nvPr/>
        </p:nvSpPr>
        <p:spPr>
          <a:xfrm>
            <a:off x="4800600" y="4279392"/>
            <a:ext cx="3201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1"/>
          <p:cNvSpPr/>
          <p:nvPr/>
        </p:nvSpPr>
        <p:spPr>
          <a:xfrm>
            <a:off x="5138928" y="4279392"/>
            <a:ext cx="13716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Tests</a:t>
            </a:r>
            <a:endParaRPr b="0" i="0" sz="10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1"/>
          <p:cNvSpPr/>
          <p:nvPr/>
        </p:nvSpPr>
        <p:spPr>
          <a:xfrm>
            <a:off x="6528816" y="4279392"/>
            <a:ext cx="20118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8/8 tests validés avec succès</a:t>
            </a:r>
            <a:endParaRPr b="0" i="0" sz="9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22"/>
          <p:cNvSpPr txBox="1"/>
          <p:nvPr/>
        </p:nvSpPr>
        <p:spPr>
          <a:xfrm>
            <a:off x="1487650" y="736000"/>
            <a:ext cx="63882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dk1"/>
                </a:solidFill>
              </a:rPr>
              <a:t>CONCLUSION GLOBAL </a:t>
            </a:r>
            <a:endParaRPr sz="3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>
                <a:solidFill>
                  <a:schemeClr val="dk1"/>
                </a:solidFill>
              </a:rPr>
              <a:t>DEMO DEV ET INFRA </a:t>
            </a:r>
            <a:endParaRPr sz="3400">
              <a:solidFill>
                <a:schemeClr val="dk1"/>
              </a:solidFill>
            </a:endParaRPr>
          </a:p>
        </p:txBody>
      </p:sp>
      <p:sp>
        <p:nvSpPr>
          <p:cNvPr id="495" name="Google Shape;495;p22"/>
          <p:cNvSpPr txBox="1"/>
          <p:nvPr/>
        </p:nvSpPr>
        <p:spPr>
          <a:xfrm>
            <a:off x="1775125" y="3175000"/>
            <a:ext cx="63171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1E40AF"/>
                </a:solidFill>
              </a:rPr>
              <a:t>MERCI POUR VOTRE ATTENTION</a:t>
            </a:r>
            <a:endParaRPr b="1" sz="2500">
              <a:solidFill>
                <a:srgbClr val="1E40A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1E40AF"/>
                </a:solidFill>
              </a:rPr>
              <a:t> </a:t>
            </a:r>
            <a:endParaRPr b="1" sz="2500">
              <a:solidFill>
                <a:srgbClr val="1E40A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1E40AF"/>
                </a:solidFill>
              </a:rPr>
              <a:t>DES QUESTIONS ?????</a:t>
            </a:r>
            <a:endParaRPr b="1" sz="2500">
              <a:solidFill>
                <a:srgbClr val="1E40A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